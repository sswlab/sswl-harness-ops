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C5CAE9"/>
                </a:solidFill>
                <a:latin typeface="Noto Sans CJK KR"/>
              </a:rPr>
              <a:t>태양 및 우주환경연구실을 위한 연구 지원 AI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6438" y="2011680"/>
            <a:ext cx="457881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 i="0" dirty="0">
                <a:solidFill>
                  <a:srgbClr val="FFFFFF"/>
                </a:solidFill>
                <a:latin typeface="Noto Sans CJK KR"/>
              </a:rPr>
              <a:t>SSWL AI Harness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3383280"/>
            <a:ext cx="3047695" cy="36576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i="0">
                <a:solidFill>
                  <a:srgbClr val="9FA8DA"/>
                </a:solidFill>
                <a:latin typeface="Noto Sans CJK KR"/>
              </a:rPr>
              <a:t>모델 아카이빙  ·  연구 업무 수행  ·  아이디어→실험 결과  ·  논문 초안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8534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 i="1">
                <a:solidFill>
                  <a:srgbClr val="9FA8DA"/>
                </a:solidFill>
                <a:latin typeface="Noto Sans CJK KR"/>
              </a:rPr>
              <a:t>"연구실에서 개발된 모델을 누구나 활용하고, 아이디어를 빠르게 검증합니다."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7986CB"/>
                </a:solidFill>
                <a:latin typeface="Noto Sans CJK KR"/>
              </a:rPr>
              <a:t>2026  ·  태양 및 우주환경연구실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1A237E"/>
                </a:solidFill>
                <a:latin typeface="Noto Sans CJK KR"/>
              </a:rPr>
              <a:t>이 시스템은 왜 필요한가요?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286000" cy="4572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6858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기존 방식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문제점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연구실 모델이 개발자 PC에만 존재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개발자 부재 시 아무도 실행 불가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모델 실행 방법이 구전으로 전수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새 연구자 합류 시 재교육 필요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데이터 수집을 사이트별로 수동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연구 시간 상당 부분이 데이터 수집에 소요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아이디어에서 실험까지 오래 걸림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아이디어 → 데이터 → 실행 → 분석이 수일~수주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모델 버전 관리 부재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어떤 버전으로 어떤 결과를 냈는지 추적 불가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046720" y="137160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0" y="155448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A237E"/>
                </a:solidFill>
                <a:latin typeface="Noto Sans CJK KR"/>
              </a:rPr>
              <a:t>SSWL AI 하네스 v2.0은</a:t>
            </a:r>
          </a:p>
          <a:p>
            <a:pPr algn="l">
              <a:spcAft>
                <a:spcPts val="600"/>
              </a:spcAft>
            </a:pPr>
            <a:endParaRPr sz="1400" b="1" i="0">
              <a:solidFill>
                <a:srgbClr val="1A237E"/>
              </a:solidFill>
              <a:latin typeface="Noto Sans CJK KR"/>
            </a:endParaRP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Noto Sans CJK KR"/>
              </a:rPr>
              <a:t>모델을 표준화·아카이빙하고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333333"/>
                </a:solidFill>
                <a:latin typeface="Noto Sans CJK KR"/>
              </a:rPr>
              <a:t>누구나 자연어로 실행하며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333333"/>
                </a:solidFill>
                <a:latin typeface="Noto Sans CJK KR"/>
              </a:rPr>
              <a:t>아이디어를 빠르게 실험 결과로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Noto Sans CJK KR"/>
              </a:rPr>
              <a:t>전환합니다.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0698480" cy="82296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949AB"/>
                </a:solidFill>
                <a:latin typeface="Noto Sans CJK KR"/>
              </a:rPr>
              <a:t>모델은 자산화  ·  누구나 활용  ·  아이디어에서 결과까지 당일 확인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1A237E"/>
                </a:solidFill>
                <a:latin typeface="Noto Sans CJK KR"/>
              </a:rPr>
              <a:t>시스템 한눈에 보기 — 세 가지 핵심 기능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286000" cy="4572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283593"/>
                </a:solidFill>
                <a:latin typeface="Noto Sans CJK KR"/>
              </a:rPr>
              <a:t>① 연구 업무 수행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554480" cy="123444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Noto Sans CJK KR"/>
              </a:rPr>
              <a:t>1. 연구자 요청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자연어로
작업 요청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201168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77440" y="21031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Noto Sans CJK KR"/>
              </a:rPr>
              <a:t>2. 계획 수립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4688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AI가 실행계획
자동 생성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2900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Noto Sans CJK KR"/>
              </a:rPr>
              <a:t>3. 승인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862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연구자가
계획 검토·승인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3429000"/>
            <a:ext cx="1554480" cy="123444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77440" y="35204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Noto Sans CJK KR"/>
              </a:rPr>
              <a:t>4. 자동 실행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8862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데이터 수집 →
모델 실행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4632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937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Noto Sans CJK KR"/>
              </a:rPr>
              <a:t>5. 결과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035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보고서 생성
시각화 포함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4846320"/>
            <a:ext cx="1554480" cy="123444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377440" y="4937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Noto Sans CJK KR"/>
              </a:rPr>
              <a:t>6. 후속 제안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53035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다음 분석
자동 제안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137160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89120" y="14630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2E7D32"/>
                </a:solidFill>
                <a:latin typeface="Noto Sans CJK KR"/>
              </a:rPr>
              <a:t>② 모델 아카이빙 &amp; 활용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201168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80559" y="21031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  <a:latin typeface="Noto Sans CJK KR"/>
              </a:rPr>
              <a:t>모델 등록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24688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코드 분석 →
모델 카드 자동 생성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79" y="201168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19" y="21031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  <a:latin typeface="Noto Sans CJK KR"/>
              </a:rPr>
              <a:t>모델 목록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19" y="24688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등록된 모델
표/카드로 조회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342900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80559" y="35204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  <a:latin typeface="Noto Sans CJK KR"/>
              </a:rPr>
              <a:t>모델 활용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59" y="38862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자연어 요청 →
자동 실행·결과 보고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79" y="342900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17919" y="35204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  <a:latin typeface="Noto Sans CJK KR"/>
              </a:rPr>
              <a:t>버전 관리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19" y="38862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업데이트 시
이전 버전 보존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51663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D32"/>
                </a:solidFill>
                <a:latin typeface="Noto Sans CJK KR"/>
              </a:rPr>
              <a:t>개발에 참여하지 않은
연구자도 동일하게 사용 가능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0" y="137160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F3E5F5"/>
          </a:solidFill>
          <a:ln w="12700">
            <a:solidFill>
              <a:srgbClr val="CE9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600" y="14630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4A148C"/>
                </a:solidFill>
                <a:latin typeface="Noto Sans CJK KR"/>
              </a:rPr>
              <a:t>③ 아이디어 → 실험 결과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0" y="201168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21040" y="21031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4A148C"/>
                </a:solidFill>
                <a:latin typeface="Noto Sans CJK KR"/>
              </a:rPr>
              <a:t>아이디어 분석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24688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핵심 질문 추출
가설 수립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66960" y="201168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058400" y="21031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4A148C"/>
                </a:solidFill>
                <a:latin typeface="Noto Sans CJK KR"/>
              </a:rPr>
              <a:t>실험 설계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24688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Baseline vs
Experiment 설계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600" y="342900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321040" y="35204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4A148C"/>
                </a:solidFill>
                <a:latin typeface="Noto Sans CJK KR"/>
              </a:rPr>
              <a:t>실험 실행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38862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데이터 수집 →
모델 실행 → 비교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966960" y="342900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058400" y="35204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4A148C"/>
                </a:solidFill>
                <a:latin typeface="Noto Sans CJK KR"/>
              </a:rPr>
              <a:t>결과 + 논문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0" y="38862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통계 분석 보고
논문 초안 작성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5166360"/>
            <a:ext cx="3383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 dirty="0">
                <a:solidFill>
                  <a:srgbClr val="4A148C"/>
                </a:solidFill>
                <a:latin typeface="Noto Sans CJK KR"/>
              </a:rPr>
              <a:t>"</a:t>
            </a:r>
            <a:r>
              <a:rPr sz="1200" b="1" i="1" dirty="0" err="1">
                <a:solidFill>
                  <a:srgbClr val="4A148C"/>
                </a:solidFill>
                <a:latin typeface="Noto Sans CJK KR"/>
              </a:rPr>
              <a:t>아이디어</a:t>
            </a:r>
            <a:r>
              <a:rPr lang="ko-KR" altLang="en-US" sz="1200" b="1" i="1" dirty="0">
                <a:solidFill>
                  <a:srgbClr val="4A148C"/>
                </a:solidFill>
                <a:latin typeface="Noto Sans CJK KR"/>
              </a:rPr>
              <a:t>를</a:t>
            </a:r>
            <a:r>
              <a:rPr sz="1200" b="1" i="1" dirty="0">
                <a:solidFill>
                  <a:srgbClr val="4A148C"/>
                </a:solidFill>
                <a:latin typeface="Noto Sans CJK KR"/>
              </a:rPr>
              <a:t> </a:t>
            </a:r>
            <a:r>
              <a:rPr sz="1200" b="1" i="1" dirty="0" err="1">
                <a:solidFill>
                  <a:srgbClr val="4A148C"/>
                </a:solidFill>
                <a:latin typeface="Noto Sans CJK KR"/>
              </a:rPr>
              <a:t>말씀하시면</a:t>
            </a:r>
            <a:r>
              <a:rPr sz="1200" b="1" i="1" dirty="0">
                <a:solidFill>
                  <a:srgbClr val="4A148C"/>
                </a:solidFill>
                <a:latin typeface="Noto Sans CJK KR"/>
              </a:rPr>
              <a:t>
</a:t>
            </a:r>
            <a:r>
              <a:rPr sz="1200" b="1" i="1" dirty="0" err="1">
                <a:solidFill>
                  <a:srgbClr val="4A148C"/>
                </a:solidFill>
                <a:latin typeface="Noto Sans CJK KR"/>
              </a:rPr>
              <a:t>간단한</a:t>
            </a:r>
            <a:r>
              <a:rPr sz="1200" b="1" i="1" dirty="0">
                <a:solidFill>
                  <a:srgbClr val="4A148C"/>
                </a:solidFill>
                <a:latin typeface="Noto Sans CJK KR"/>
              </a:rPr>
              <a:t> </a:t>
            </a:r>
            <a:r>
              <a:rPr sz="1200" b="1" i="1" dirty="0" err="1">
                <a:solidFill>
                  <a:srgbClr val="4A148C"/>
                </a:solidFill>
                <a:latin typeface="Noto Sans CJK KR"/>
              </a:rPr>
              <a:t>실험</a:t>
            </a:r>
            <a:r>
              <a:rPr sz="1200" b="1" i="1" dirty="0">
                <a:solidFill>
                  <a:srgbClr val="4A148C"/>
                </a:solidFill>
                <a:latin typeface="Noto Sans CJK KR"/>
              </a:rPr>
              <a:t> </a:t>
            </a:r>
            <a:r>
              <a:rPr sz="1200" b="1" i="1" dirty="0" err="1">
                <a:solidFill>
                  <a:srgbClr val="4A148C"/>
                </a:solidFill>
                <a:latin typeface="Noto Sans CJK KR"/>
              </a:rPr>
              <a:t>결과</a:t>
            </a:r>
            <a:r>
              <a:rPr lang="ko-KR" altLang="en-US" sz="1200" b="1" i="1" dirty="0">
                <a:solidFill>
                  <a:srgbClr val="4A148C"/>
                </a:solidFill>
                <a:latin typeface="Noto Sans CJK KR"/>
              </a:rPr>
              <a:t>로</a:t>
            </a:r>
            <a:r>
              <a:rPr sz="1200" b="1" i="1" dirty="0">
                <a:solidFill>
                  <a:srgbClr val="4A148C"/>
                </a:solidFill>
                <a:latin typeface="Noto Sans CJK KR"/>
              </a:rPr>
              <a:t> </a:t>
            </a:r>
            <a:r>
              <a:rPr sz="1200" b="1" i="1" dirty="0" err="1">
                <a:solidFill>
                  <a:srgbClr val="4A148C"/>
                </a:solidFill>
                <a:latin typeface="Noto Sans CJK KR"/>
              </a:rPr>
              <a:t>보여드립니다</a:t>
            </a:r>
            <a:r>
              <a:rPr sz="1200" b="1" i="1" dirty="0">
                <a:solidFill>
                  <a:srgbClr val="4A148C"/>
                </a:solidFill>
                <a:latin typeface="Noto Sans CJK KR"/>
              </a:rPr>
              <a:t>"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342FD23-500F-4DC7-7484-E1964269F03A}"/>
              </a:ext>
            </a:extLst>
          </p:cNvPr>
          <p:cNvSpPr/>
          <p:nvPr/>
        </p:nvSpPr>
        <p:spPr>
          <a:xfrm>
            <a:off x="614001" y="6385151"/>
            <a:ext cx="530843" cy="1405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933EC4B-3D84-BDEA-E489-54A5143F4644}"/>
              </a:ext>
            </a:extLst>
          </p:cNvPr>
          <p:cNvSpPr txBox="1"/>
          <p:nvPr/>
        </p:nvSpPr>
        <p:spPr>
          <a:xfrm>
            <a:off x="1209896" y="6260264"/>
            <a:ext cx="2092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: Human-in-the-loop</a:t>
            </a:r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1A237E"/>
                </a:solidFill>
                <a:latin typeface="Noto Sans CJK KR"/>
              </a:rPr>
              <a:t>기능 1. 연구 업무 수행 — "말하면 해줍니다"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4572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1A237E"/>
                </a:solidFill>
                <a:latin typeface="Noto Sans CJK KR"/>
              </a:rPr>
              <a:t>요청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Noto Sans CJK KR"/>
              </a:rPr>
              <a:t>"최근 1달 HMI 데이터로 synoptic map 만들어줘"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Noto Sans CJK KR"/>
              </a:rPr>
              <a:t>"AIA 193 이미지에서 코로나홀 찾아줘"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Noto Sans CJK KR"/>
              </a:rPr>
              <a:t>"이걸로 PFSS 시뮬레이션 돌려줘"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1A237E"/>
                </a:solidFill>
                <a:latin typeface="Noto Sans CJK KR"/>
              </a:rPr>
              <a:t>처리 흐름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1. 요청 → query-planner가 실행 계획 수립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2. 연구자 승인 (반드시 승인 후 실행)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3. task-executor가 자동 실행 (데이터→모델→후처리)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4. result-reporter가 결과 보고 + 후속 제안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10698480" cy="2286000"/>
          </a:xfrm>
          <a:prstGeom prst="roundRect">
            <a:avLst>
              <a:gd name="adj" fmla="val 5000"/>
            </a:avLst>
          </a:prstGeom>
          <a:solidFill>
            <a:srgbClr val="FDFDE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A237E"/>
                </a:solidFill>
                <a:latin typeface="Noto Sans CJK KR"/>
              </a:rPr>
              <a:t>시나리오: Synoptic Map → PFSS 연속 작업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연구자: "최근 1달 SO/PHI와 SDO/HMI 데이터로 synoptic map 만들어줘"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66666"/>
                </a:solidFill>
                <a:latin typeface="Noto Sans CJK KR"/>
              </a:rPr>
              <a:t>→ AI: 계획 제시 (4단계, 40~60분 예상) → 승인 후 자동 실행 → 결과 보고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66666"/>
                </a:solidFill>
                <a:latin typeface="Noto Sans CJK KR"/>
              </a:rPr>
              <a:t>→ "이 map으로 PFSS 시뮬레이션 가능합니다"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연구자: "이걸로 PFSS 돌려줘" → 이전 결과 자동 참조하여 즉시 실행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1A237E"/>
                </a:solidFill>
                <a:latin typeface="Noto Sans CJK KR"/>
              </a:rPr>
              <a:t>기능 2. 모델 아카이빙 — "개발하지 않았어도 사용합니다"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4572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2E7D32"/>
                </a:solidFill>
                <a:latin typeface="Noto Sans CJK KR"/>
              </a:rPr>
              <a:t>모델 등록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개발자: "코로나홀 탐지 모델 등록해줘. 코드는 여기에."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66666"/>
                </a:solidFill>
                <a:latin typeface="Noto Sans CJK KR"/>
              </a:rPr>
              <a:t>→ AI가 코드 분석 (입출력, 의존성, 실행 방법 파악)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66666"/>
                </a:solidFill>
                <a:latin typeface="Noto Sans CJK KR"/>
              </a:rPr>
              <a:t>→ 모델 카드(사용 설명서) + 실행 래퍼 자동 생성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Noto Sans CJK KR"/>
              </a:rPr>
              <a:t>→ model_registry에 등록 완료 + 테스트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28016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3716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1A237E"/>
                </a:solidFill>
                <a:latin typeface="Noto Sans CJK KR"/>
              </a:rPr>
              <a:t>모델 활용 (개발 미참여 연구자)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연구자B: "코로나홀 탐지 모델로 어제 AIA 193 분석해줘"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66666"/>
                </a:solidFill>
                <a:latin typeface="Noto Sans CJK KR"/>
              </a:rPr>
              <a:t>→ 모델 카드 참조 → 필요 데이터 자동 수집 (JSOC)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66666"/>
                </a:solidFill>
                <a:latin typeface="Noto Sans CJK KR"/>
              </a:rPr>
              <a:t>→ 모델 자동 실행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Noto Sans CJK KR"/>
              </a:rPr>
              <a:t>→ 결과 시각화 및 보고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1A237E"/>
                </a:solidFill>
                <a:latin typeface="Noto Sans CJK KR"/>
              </a:rPr>
              <a:t>등록 모델 목록 예시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3931920"/>
          <a:ext cx="8686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#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모델명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용도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입력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개발자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coronal_hole_detect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코로나홀 탐지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AIA 193 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김연구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dem_model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DEM 분석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AIA 6채널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이연구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pix2pixcc_fsi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EUI 채널 합성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FSI 174+304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윤준무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synoptic_map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Synoptic map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HMI 자기장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(내장)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pfss_sim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PFSS 시뮬레이션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Synoptic map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(내장)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1A237E"/>
                </a:solidFill>
                <a:latin typeface="Noto Sans CJK KR"/>
              </a:rPr>
              <a:t>기능 3. 아이디어 → 실험 결과 — "말하면 실험합니다"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4572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4846320"/>
          </a:xfrm>
          <a:prstGeom prst="roundRect">
            <a:avLst>
              <a:gd name="adj" fmla="val 5000"/>
            </a:avLst>
          </a:prstGeom>
          <a:solidFill>
            <a:srgbClr val="FDFD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4A148C"/>
                </a:solidFill>
                <a:latin typeface="Noto Sans CJK KR"/>
              </a:rPr>
              <a:t>시나리오: EUI DEM 연구에서 Magnetogram 추가 효과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029200" cy="2944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Aft>
                <a:spcPts val="200"/>
              </a:spcAft>
            </a:pPr>
            <a:r>
              <a:rPr lang="ko-KR" altLang="en-US" sz="1200" b="1" i="0" dirty="0">
                <a:solidFill>
                  <a:srgbClr val="4A148C"/>
                </a:solidFill>
                <a:latin typeface="Noto Sans CJK KR"/>
              </a:rPr>
              <a:t>연구자</a:t>
            </a:r>
            <a:r>
              <a:rPr sz="1200" b="1" i="0" dirty="0">
                <a:solidFill>
                  <a:srgbClr val="4A148C"/>
                </a:solidFill>
                <a:latin typeface="Noto Sans CJK KR"/>
              </a:rPr>
              <a:t>:</a:t>
            </a:r>
          </a:p>
          <a:p>
            <a:pPr algn="l">
              <a:spcAft>
                <a:spcPts val="800"/>
              </a:spcAft>
            </a:pPr>
            <a:r>
              <a:rPr sz="1100" b="0" i="0" dirty="0">
                <a:solidFill>
                  <a:srgbClr val="333333"/>
                </a:solidFill>
                <a:latin typeface="Noto Sans CJK KR"/>
              </a:rPr>
              <a:t>"Solar Orbiter DEM </a:t>
            </a:r>
            <a:r>
              <a:rPr sz="1100" b="0" i="0" dirty="0" err="1">
                <a:solidFill>
                  <a:srgbClr val="333333"/>
                </a:solidFill>
                <a:latin typeface="Noto Sans CJK KR"/>
              </a:rPr>
              <a:t>연구에서</a:t>
            </a:r>
            <a:r>
              <a:rPr sz="1100" b="0" i="0" dirty="0">
                <a:solidFill>
                  <a:srgbClr val="333333"/>
                </a:solidFill>
                <a:latin typeface="Noto Sans CJK KR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Noto Sans CJK KR"/>
              </a:rPr>
              <a:t>Magnetogram을</a:t>
            </a:r>
            <a:r>
              <a:rPr sz="1100" b="0" i="0" dirty="0">
                <a:solidFill>
                  <a:srgbClr val="333333"/>
                </a:solidFill>
                <a:latin typeface="Noto Sans CJK KR"/>
              </a:rPr>
              <a:t>
 DL </a:t>
            </a:r>
            <a:r>
              <a:rPr sz="1100" b="0" i="0" dirty="0" err="1">
                <a:solidFill>
                  <a:srgbClr val="333333"/>
                </a:solidFill>
                <a:latin typeface="Noto Sans CJK KR"/>
              </a:rPr>
              <a:t>입력에</a:t>
            </a:r>
            <a:r>
              <a:rPr sz="1100" b="0" i="0" dirty="0">
                <a:solidFill>
                  <a:srgbClr val="333333"/>
                </a:solidFill>
                <a:latin typeface="Noto Sans CJK KR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Noto Sans CJK KR"/>
              </a:rPr>
              <a:t>추가하면</a:t>
            </a:r>
            <a:r>
              <a:rPr sz="1100" b="0" i="0" dirty="0">
                <a:solidFill>
                  <a:srgbClr val="333333"/>
                </a:solidFill>
                <a:latin typeface="Noto Sans CJK KR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Noto Sans CJK KR"/>
              </a:rPr>
              <a:t>합성</a:t>
            </a:r>
            <a:r>
              <a:rPr sz="1100" b="0" i="0" dirty="0">
                <a:solidFill>
                  <a:srgbClr val="333333"/>
                </a:solidFill>
                <a:latin typeface="Noto Sans CJK KR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Noto Sans CJK KR"/>
              </a:rPr>
              <a:t>채널이</a:t>
            </a:r>
            <a:r>
              <a:rPr sz="1100" b="0" i="0" dirty="0">
                <a:solidFill>
                  <a:srgbClr val="333333"/>
                </a:solidFill>
                <a:latin typeface="Noto Sans CJK KR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Noto Sans CJK KR"/>
              </a:rPr>
              <a:t>좋아질까</a:t>
            </a:r>
            <a:r>
              <a:rPr sz="1100" b="0" i="0" dirty="0">
                <a:solidFill>
                  <a:srgbClr val="333333"/>
                </a:solidFill>
                <a:latin typeface="Noto Sans CJK KR"/>
              </a:rPr>
              <a:t>?"</a:t>
            </a:r>
          </a:p>
          <a:p>
            <a:pPr algn="l">
              <a:spcAft>
                <a:spcPts val="200"/>
              </a:spcAft>
            </a:pPr>
            <a:r>
              <a:rPr sz="1200" b="1" i="0" dirty="0">
                <a:solidFill>
                  <a:srgbClr val="1A237E"/>
                </a:solidFill>
                <a:latin typeface="Noto Sans CJK KR"/>
              </a:rPr>
              <a:t>AI → </a:t>
            </a:r>
            <a:r>
              <a:rPr sz="1200" b="1" i="0" dirty="0" err="1">
                <a:solidFill>
                  <a:srgbClr val="1A237E"/>
                </a:solidFill>
                <a:latin typeface="Noto Sans CJK KR"/>
              </a:rPr>
              <a:t>아이디어</a:t>
            </a:r>
            <a:r>
              <a:rPr sz="1200" b="1" i="0" dirty="0">
                <a:solidFill>
                  <a:srgbClr val="1A237E"/>
                </a:solidFill>
                <a:latin typeface="Noto Sans CJK KR"/>
              </a:rPr>
              <a:t> </a:t>
            </a:r>
            <a:r>
              <a:rPr sz="1200" b="1" i="0" dirty="0" err="1">
                <a:solidFill>
                  <a:srgbClr val="1A237E"/>
                </a:solidFill>
                <a:latin typeface="Noto Sans CJK KR"/>
              </a:rPr>
              <a:t>분석</a:t>
            </a:r>
            <a:r>
              <a:rPr sz="1200" b="1" i="0" dirty="0">
                <a:solidFill>
                  <a:srgbClr val="1A237E"/>
                </a:solidFill>
                <a:latin typeface="Noto Sans CJK KR"/>
              </a:rPr>
              <a:t>:</a:t>
            </a:r>
          </a:p>
          <a:p>
            <a:pPr algn="l">
              <a:spcAft>
                <a:spcPts val="200"/>
              </a:spcAft>
            </a:pPr>
            <a:r>
              <a:rPr sz="1000" b="0" i="0" dirty="0" err="1">
                <a:solidFill>
                  <a:srgbClr val="666666"/>
                </a:solidFill>
                <a:latin typeface="Noto Sans CJK KR"/>
              </a:rPr>
              <a:t>배경</a:t>
            </a:r>
            <a:r>
              <a:rPr sz="1000" b="0" i="0" dirty="0">
                <a:solidFill>
                  <a:srgbClr val="666666"/>
                </a:solidFill>
                <a:latin typeface="Noto Sans CJK KR"/>
              </a:rPr>
              <a:t>: EUI/FSI 2채널 → Pix2PixCC → </a:t>
            </a:r>
            <a:r>
              <a:rPr sz="1000" b="0" i="0" dirty="0" err="1">
                <a:solidFill>
                  <a:srgbClr val="666666"/>
                </a:solidFill>
                <a:latin typeface="Noto Sans CJK KR"/>
              </a:rPr>
              <a:t>합성</a:t>
            </a:r>
            <a:r>
              <a:rPr sz="1000" b="0" i="0" dirty="0">
                <a:solidFill>
                  <a:srgbClr val="666666"/>
                </a:solidFill>
                <a:latin typeface="Noto Sans CJK KR"/>
              </a:rPr>
              <a:t> 5채널 → DEM</a:t>
            </a:r>
          </a:p>
          <a:p>
            <a:pPr algn="l">
              <a:spcAft>
                <a:spcPts val="800"/>
              </a:spcAft>
            </a:pPr>
            <a:r>
              <a:rPr sz="1000" b="0" i="0" dirty="0" err="1">
                <a:solidFill>
                  <a:srgbClr val="666666"/>
                </a:solidFill>
                <a:latin typeface="Noto Sans CJK KR"/>
              </a:rPr>
              <a:t>제안</a:t>
            </a:r>
            <a:r>
              <a:rPr sz="1000" b="0" i="0" dirty="0">
                <a:solidFill>
                  <a:srgbClr val="666666"/>
                </a:solidFill>
                <a:latin typeface="Noto Sans CJK KR"/>
              </a:rPr>
              <a:t>: DL </a:t>
            </a:r>
            <a:r>
              <a:rPr sz="1000" b="0" i="0" dirty="0" err="1">
                <a:solidFill>
                  <a:srgbClr val="666666"/>
                </a:solidFill>
                <a:latin typeface="Noto Sans CJK KR"/>
              </a:rPr>
              <a:t>입력에</a:t>
            </a:r>
            <a:r>
              <a:rPr sz="1000" b="0" i="0" dirty="0">
                <a:solidFill>
                  <a:srgbClr val="666666"/>
                </a:solidFill>
                <a:latin typeface="Noto Sans CJK KR"/>
              </a:rPr>
              <a:t> magnetogram </a:t>
            </a:r>
            <a:r>
              <a:rPr sz="1000" b="0" i="0" dirty="0" err="1">
                <a:solidFill>
                  <a:srgbClr val="666666"/>
                </a:solidFill>
                <a:latin typeface="Noto Sans CJK KR"/>
              </a:rPr>
              <a:t>추가</a:t>
            </a:r>
            <a:r>
              <a:rPr sz="1000" b="0" i="0" dirty="0">
                <a:solidFill>
                  <a:srgbClr val="666666"/>
                </a:solidFill>
                <a:latin typeface="Noto Sans CJK KR"/>
              </a:rPr>
              <a:t> 시 </a:t>
            </a:r>
            <a:r>
              <a:rPr sz="1000" b="0" i="0" dirty="0" err="1">
                <a:solidFill>
                  <a:srgbClr val="666666"/>
                </a:solidFill>
                <a:latin typeface="Noto Sans CJK KR"/>
              </a:rPr>
              <a:t>품질</a:t>
            </a:r>
            <a:r>
              <a:rPr sz="1000" b="0" i="0" dirty="0">
                <a:solidFill>
                  <a:srgbClr val="666666"/>
                </a:solidFill>
                <a:latin typeface="Noto Sans CJK KR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Noto Sans CJK KR"/>
              </a:rPr>
              <a:t>개선</a:t>
            </a:r>
            <a:r>
              <a:rPr sz="1000" b="0" i="0" dirty="0">
                <a:solidFill>
                  <a:srgbClr val="666666"/>
                </a:solidFill>
                <a:latin typeface="Noto Sans CJK KR"/>
              </a:rPr>
              <a:t>?</a:t>
            </a:r>
          </a:p>
          <a:p>
            <a:pPr algn="l">
              <a:spcAft>
                <a:spcPts val="200"/>
              </a:spcAft>
            </a:pPr>
            <a:r>
              <a:rPr sz="1200" b="1" i="0" dirty="0">
                <a:solidFill>
                  <a:srgbClr val="1A237E"/>
                </a:solidFill>
                <a:latin typeface="Noto Sans CJK KR"/>
              </a:rPr>
              <a:t>AI → </a:t>
            </a:r>
            <a:r>
              <a:rPr sz="1200" b="1" i="0" dirty="0" err="1">
                <a:solidFill>
                  <a:srgbClr val="1A237E"/>
                </a:solidFill>
                <a:latin typeface="Noto Sans CJK KR"/>
              </a:rPr>
              <a:t>실험</a:t>
            </a:r>
            <a:r>
              <a:rPr sz="1200" b="1" i="0" dirty="0">
                <a:solidFill>
                  <a:srgbClr val="1A237E"/>
                </a:solidFill>
                <a:latin typeface="Noto Sans CJK KR"/>
              </a:rPr>
              <a:t> </a:t>
            </a:r>
            <a:r>
              <a:rPr sz="1200" b="1" i="0" dirty="0" err="1">
                <a:solidFill>
                  <a:srgbClr val="1A237E"/>
                </a:solidFill>
                <a:latin typeface="Noto Sans CJK KR"/>
              </a:rPr>
              <a:t>설계</a:t>
            </a:r>
            <a:r>
              <a:rPr sz="1200" b="1" i="0" dirty="0">
                <a:solidFill>
                  <a:srgbClr val="1A237E"/>
                </a:solidFill>
                <a:latin typeface="Noto Sans CJK KR"/>
              </a:rPr>
              <a:t>:</a:t>
            </a:r>
          </a:p>
          <a:p>
            <a:pPr algn="l">
              <a:spcAft>
                <a:spcPts val="200"/>
              </a:spcAft>
            </a:pPr>
            <a:r>
              <a:rPr sz="1000" b="0" i="0" dirty="0">
                <a:solidFill>
                  <a:srgbClr val="666666"/>
                </a:solidFill>
                <a:latin typeface="Noto Sans CJK KR"/>
              </a:rPr>
              <a:t>Baseline: AIA 171+304 → Pix2PixCC → DEM</a:t>
            </a:r>
          </a:p>
          <a:p>
            <a:pPr algn="l">
              <a:spcAft>
                <a:spcPts val="200"/>
              </a:spcAft>
            </a:pPr>
            <a:r>
              <a:rPr sz="1000" b="0" i="0" dirty="0">
                <a:solidFill>
                  <a:srgbClr val="666666"/>
                </a:solidFill>
                <a:latin typeface="Noto Sans CJK KR"/>
              </a:rPr>
              <a:t>Experiment: 171+304+HMI mag → Modified Pix2PixCC → DEM</a:t>
            </a:r>
          </a:p>
          <a:p>
            <a:pPr algn="l">
              <a:spcAft>
                <a:spcPts val="800"/>
              </a:spcAft>
            </a:pPr>
            <a:r>
              <a:rPr sz="1000" b="0" i="0" dirty="0">
                <a:solidFill>
                  <a:srgbClr val="666666"/>
                </a:solidFill>
                <a:latin typeface="Noto Sans CJK KR"/>
              </a:rPr>
              <a:t>Reference: </a:t>
            </a:r>
            <a:r>
              <a:rPr sz="1000" b="0" i="0" dirty="0" err="1">
                <a:solidFill>
                  <a:srgbClr val="666666"/>
                </a:solidFill>
                <a:latin typeface="Noto Sans CJK KR"/>
              </a:rPr>
              <a:t>실제</a:t>
            </a:r>
            <a:r>
              <a:rPr sz="1000" b="0" i="0" dirty="0">
                <a:solidFill>
                  <a:srgbClr val="666666"/>
                </a:solidFill>
                <a:latin typeface="Noto Sans CJK KR"/>
              </a:rPr>
              <a:t> AIA 6채널 DEM (ground truth)</a:t>
            </a:r>
          </a:p>
          <a:p>
            <a:pPr algn="l">
              <a:spcAft>
                <a:spcPts val="200"/>
              </a:spcAft>
            </a:pPr>
            <a:r>
              <a:rPr lang="ko-KR" altLang="en-US" sz="1100" dirty="0">
                <a:solidFill>
                  <a:srgbClr val="333333"/>
                </a:solidFill>
                <a:latin typeface="Noto Sans CJK KR"/>
              </a:rPr>
              <a:t>연구자</a:t>
            </a:r>
            <a:r>
              <a:rPr sz="1100" b="0" i="0" dirty="0">
                <a:solidFill>
                  <a:srgbClr val="333333"/>
                </a:solidFill>
                <a:latin typeface="Noto Sans CJK KR"/>
              </a:rPr>
              <a:t>: "</a:t>
            </a:r>
            <a:r>
              <a:rPr sz="1100" b="0" i="0" dirty="0" err="1">
                <a:solidFill>
                  <a:srgbClr val="333333"/>
                </a:solidFill>
                <a:latin typeface="Noto Sans CJK KR"/>
              </a:rPr>
              <a:t>비교할</a:t>
            </a:r>
            <a:r>
              <a:rPr sz="1100" b="0" i="0" dirty="0">
                <a:solidFill>
                  <a:srgbClr val="333333"/>
                </a:solidFill>
                <a:latin typeface="Noto Sans CJK KR"/>
              </a:rPr>
              <a:t> 때 </a:t>
            </a:r>
            <a:r>
              <a:rPr sz="1100" b="0" i="0" dirty="0" err="1">
                <a:solidFill>
                  <a:srgbClr val="333333"/>
                </a:solidFill>
                <a:latin typeface="Noto Sans CJK KR"/>
              </a:rPr>
              <a:t>활동영역과</a:t>
            </a:r>
            <a:r>
              <a:rPr sz="1100" b="0" i="0" dirty="0">
                <a:solidFill>
                  <a:srgbClr val="333333"/>
                </a:solidFill>
                <a:latin typeface="Noto Sans CJK KR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Noto Sans CJK KR"/>
              </a:rPr>
              <a:t>조용한</a:t>
            </a:r>
            <a:r>
              <a:rPr sz="1100" b="0" i="0" dirty="0">
                <a:solidFill>
                  <a:srgbClr val="333333"/>
                </a:solidFill>
                <a:latin typeface="Noto Sans CJK KR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Noto Sans CJK KR"/>
              </a:rPr>
              <a:t>영역</a:t>
            </a:r>
            <a:r>
              <a:rPr sz="1100" b="0" i="0" dirty="0">
                <a:solidFill>
                  <a:srgbClr val="333333"/>
                </a:solidFill>
                <a:latin typeface="Noto Sans CJK KR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Noto Sans CJK KR"/>
              </a:rPr>
              <a:t>따로</a:t>
            </a:r>
            <a:r>
              <a:rPr sz="1100" b="0" i="0" dirty="0">
                <a:solidFill>
                  <a:srgbClr val="333333"/>
                </a:solidFill>
                <a:latin typeface="Noto Sans CJK KR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Noto Sans CJK KR"/>
              </a:rPr>
              <a:t>봐줘</a:t>
            </a:r>
            <a:r>
              <a:rPr sz="1100" b="0" i="0" dirty="0">
                <a:solidFill>
                  <a:srgbClr val="333333"/>
                </a:solidFill>
                <a:latin typeface="Noto Sans CJK KR"/>
              </a:rPr>
              <a:t>"</a:t>
            </a:r>
          </a:p>
          <a:p>
            <a:pPr algn="l">
              <a:spcAft>
                <a:spcPts val="600"/>
              </a:spcAft>
            </a:pPr>
            <a:r>
              <a:rPr sz="1000" b="0" i="0" dirty="0">
                <a:solidFill>
                  <a:srgbClr val="666666"/>
                </a:solidFill>
                <a:latin typeface="Noto Sans CJK KR"/>
              </a:rPr>
              <a:t>→ AI: </a:t>
            </a:r>
            <a:r>
              <a:rPr sz="1000" b="0" i="0" dirty="0" err="1">
                <a:solidFill>
                  <a:srgbClr val="666666"/>
                </a:solidFill>
                <a:latin typeface="Noto Sans CJK KR"/>
              </a:rPr>
              <a:t>영역</a:t>
            </a:r>
            <a:r>
              <a:rPr sz="1000" b="0" i="0" dirty="0">
                <a:solidFill>
                  <a:srgbClr val="666666"/>
                </a:solidFill>
                <a:latin typeface="Noto Sans CJK KR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Noto Sans CJK KR"/>
              </a:rPr>
              <a:t>분류</a:t>
            </a:r>
            <a:r>
              <a:rPr sz="1000" b="0" i="0" dirty="0">
                <a:solidFill>
                  <a:srgbClr val="666666"/>
                </a:solidFill>
                <a:latin typeface="Noto Sans CJK KR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Noto Sans CJK KR"/>
              </a:rPr>
              <a:t>단계</a:t>
            </a:r>
            <a:r>
              <a:rPr sz="1000" b="0" i="0" dirty="0">
                <a:solidFill>
                  <a:srgbClr val="666666"/>
                </a:solidFill>
                <a:latin typeface="Noto Sans CJK KR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Noto Sans CJK KR"/>
              </a:rPr>
              <a:t>추가하여</a:t>
            </a:r>
            <a:r>
              <a:rPr sz="1000" b="0" i="0" dirty="0">
                <a:solidFill>
                  <a:srgbClr val="666666"/>
                </a:solidFill>
                <a:latin typeface="Noto Sans CJK KR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Noto Sans CJK KR"/>
              </a:rPr>
              <a:t>계획</a:t>
            </a:r>
            <a:r>
              <a:rPr sz="1000" b="0" i="0" dirty="0">
                <a:solidFill>
                  <a:srgbClr val="666666"/>
                </a:solidFill>
                <a:latin typeface="Noto Sans CJK KR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Noto Sans CJK KR"/>
              </a:rPr>
              <a:t>수정</a:t>
            </a:r>
            <a:endParaRPr sz="1000" b="0" i="0" dirty="0">
              <a:solidFill>
                <a:srgbClr val="666666"/>
              </a:solidFill>
              <a:latin typeface="Noto Sans CJK KR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F3E5F5"/>
          </a:solidFill>
          <a:ln w="12700">
            <a:solidFill>
              <a:srgbClr val="CE9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4A148C"/>
                </a:solidFill>
                <a:latin typeface="Noto Sans CJK KR"/>
              </a:rPr>
              <a:t>실험 결과 (예시)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합성 94 A 채널 CC: 0.87 → 0.91 개선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4A148C"/>
                </a:solidFill>
                <a:latin typeface="Noto Sans CJK KR"/>
              </a:rPr>
              <a:t>활동영역 DEM: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  logT 6.0~6.5 EM 오차 15% 감소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4A148C"/>
                </a:solidFill>
                <a:latin typeface="Noto Sans CJK KR"/>
              </a:rPr>
              <a:t>조용한 영역: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  유의미한 차이 없음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389120"/>
            <a:ext cx="5029200" cy="155448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448056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A237E"/>
                </a:solidFill>
                <a:latin typeface="Noto Sans CJK KR"/>
              </a:rPr>
              <a:t>"이걸로 논문 초안 써줘"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84632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→ Introduction: EUI DEM 한계 + DL 접근 배경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→ Method: Pix2PixCC 수정, 학습 데이터, DEM 방법론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→ Results: 채널 품질 비교 + DEM 비교 (영역별)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→ Discussion: 자기장 정보 기여 해석 + 한계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1A237E"/>
                </a:solidFill>
                <a:latin typeface="Noto Sans CJK KR"/>
              </a:rPr>
              <a:t>연구실 논문 아카이브 (51편, 2019~2026)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4572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6400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연구 분야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주요 내용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논문 수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딥러닝 이미지 변환/합성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EUV↔자기장, 채널 합성, 백색광, He 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8편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태양 뒷면 자기장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STEREO/EUV → farside magnetogram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4편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DEM 연구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EUI 합성 채널 → DEM, Pixel-to-pixel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2편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우주기상 예보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태양풍, IMF Bz, 플레어, 전리층 예측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12편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태양 자기장/코로나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NLFFF, PFSS, Synoptic map, 3D 복원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8편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코로나 진동/파동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플룸, 루프, Alfven 속도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5편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CME/SEP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CME 질량, ICME, SEP 소스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5편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미션/관측 시스템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L4 미션, 망원경 제어, 채널 최적화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3편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589520" y="1280160"/>
            <a:ext cx="4114800" cy="228600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0" y="137160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1A237E"/>
                </a:solidFill>
                <a:latin typeface="Noto Sans CJK KR"/>
              </a:rPr>
              <a:t>게재 저널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737360"/>
            <a:ext cx="3749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333333"/>
                </a:solidFill>
                <a:latin typeface="Noto Sans CJK KR"/>
              </a:rPr>
              <a:t>Nature Astronomy — 2편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ApJ / ApJS / ApJL — 다수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A&amp;A, Space Weather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Solar Physics, Remote Sensing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JKAS, JASTP, PASP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3840480"/>
            <a:ext cx="4114800" cy="2103120"/>
          </a:xfrm>
          <a:prstGeom prst="roundRect">
            <a:avLst>
              <a:gd name="adj" fmla="val 5000"/>
            </a:avLst>
          </a:prstGeom>
          <a:solidFill>
            <a:srgbClr val="FDFDE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0" y="393192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A237E"/>
                </a:solidFill>
                <a:latin typeface="Noto Sans CJK KR"/>
              </a:rPr>
              <a:t>AI에게 물어보세요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297680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"플레어 예보 관련 논문 뭐가 있어?"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"태양 뒷면 자기장 연구 히스토리
 정리해줘"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"DEM 관련 우리 논문 참고문헌에
 넣으려는데 찾아줘"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1A237E"/>
                </a:solidFill>
                <a:latin typeface="Noto Sans CJK KR"/>
              </a:rPr>
              <a:t>기대 효과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1371600" cy="4572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4340597"/>
              </p:ext>
            </p:extLst>
          </p:nvPr>
        </p:nvGraphicFramePr>
        <p:xfrm>
          <a:off x="731520" y="2148840"/>
          <a:ext cx="6858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항목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기존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도입 후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모델 사용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개발자에게 의존, 구전 교육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자연어로 누구나 즉시 실행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데이터 수집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여러 사이트 수동 다운로드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AI가 자동 수집·검증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아이디어 검증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데이터 수집~분석까지 수일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아이디어 제시 후 당일 결과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모델 실행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명령어 직접 입력, 환경 세팅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자연어 요청으로 자동 실행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논문 초안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백지부터 직접 작성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실험 결과 기반 골격 자동 생성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046720" y="2056786"/>
            <a:ext cx="3657600" cy="2926387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0" y="224028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1A237E"/>
                </a:solidFill>
                <a:latin typeface="Noto Sans CJK KR"/>
              </a:rPr>
              <a:t>연구실 차원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606040"/>
            <a:ext cx="3291840" cy="219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Aft>
                <a:spcPts val="200"/>
              </a:spcAft>
            </a:pPr>
            <a:r>
              <a:rPr sz="1300" b="1" i="0" dirty="0" err="1">
                <a:solidFill>
                  <a:srgbClr val="1A237E"/>
                </a:solidFill>
                <a:latin typeface="Noto Sans CJK KR"/>
              </a:rPr>
              <a:t>모델</a:t>
            </a:r>
            <a:r>
              <a:rPr sz="1300" b="1" i="0" dirty="0">
                <a:solidFill>
                  <a:srgbClr val="1A237E"/>
                </a:solidFill>
                <a:latin typeface="Noto Sans CJK KR"/>
              </a:rPr>
              <a:t> </a:t>
            </a:r>
            <a:r>
              <a:rPr sz="1300" b="1" i="0" dirty="0" err="1">
                <a:solidFill>
                  <a:srgbClr val="1A237E"/>
                </a:solidFill>
                <a:latin typeface="Noto Sans CJK KR"/>
              </a:rPr>
              <a:t>자산화</a:t>
            </a:r>
            <a:endParaRPr sz="1300" b="1" i="0" dirty="0">
              <a:solidFill>
                <a:srgbClr val="1A237E"/>
              </a:solidFill>
              <a:latin typeface="Noto Sans CJK KR"/>
            </a:endParaRPr>
          </a:p>
          <a:p>
            <a:pPr algn="l">
              <a:spcAft>
                <a:spcPts val="800"/>
              </a:spcAft>
            </a:pPr>
            <a:r>
              <a:rPr sz="1000" b="0" i="0" dirty="0" err="1">
                <a:solidFill>
                  <a:srgbClr val="666666"/>
                </a:solidFill>
                <a:latin typeface="Noto Sans CJK KR"/>
              </a:rPr>
              <a:t>개인</a:t>
            </a:r>
            <a:r>
              <a:rPr sz="1000" b="0" i="0" dirty="0">
                <a:solidFill>
                  <a:srgbClr val="666666"/>
                </a:solidFill>
                <a:latin typeface="Noto Sans CJK KR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Noto Sans CJK KR"/>
              </a:rPr>
              <a:t>PC에</a:t>
            </a:r>
            <a:r>
              <a:rPr sz="1000" b="0" i="0" dirty="0">
                <a:solidFill>
                  <a:srgbClr val="666666"/>
                </a:solidFill>
                <a:latin typeface="Noto Sans CJK KR"/>
              </a:rPr>
              <a:t> </a:t>
            </a:r>
            <a:r>
              <a:rPr lang="ko-KR" altLang="en-US" sz="1000" dirty="0">
                <a:solidFill>
                  <a:srgbClr val="666666"/>
                </a:solidFill>
                <a:latin typeface="Noto Sans CJK KR"/>
              </a:rPr>
              <a:t>제한하</a:t>
            </a:r>
            <a:r>
              <a:rPr sz="1000" b="0" i="0" dirty="0">
                <a:solidFill>
                  <a:srgbClr val="666666"/>
                </a:solidFill>
                <a:latin typeface="Noto Sans CJK KR"/>
              </a:rPr>
              <a:t>지 </a:t>
            </a:r>
            <a:r>
              <a:rPr sz="1000" b="0" i="0" dirty="0" err="1">
                <a:solidFill>
                  <a:srgbClr val="666666"/>
                </a:solidFill>
                <a:latin typeface="Noto Sans CJK KR"/>
              </a:rPr>
              <a:t>않고</a:t>
            </a:r>
            <a:r>
              <a:rPr sz="1000" b="0" i="0" dirty="0">
                <a:solidFill>
                  <a:srgbClr val="666666"/>
                </a:solidFill>
                <a:latin typeface="Noto Sans CJK KR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Noto Sans CJK KR"/>
              </a:rPr>
              <a:t>연구실</a:t>
            </a:r>
            <a:r>
              <a:rPr sz="1000" b="0" i="0" dirty="0">
                <a:solidFill>
                  <a:srgbClr val="666666"/>
                </a:solidFill>
                <a:latin typeface="Noto Sans CJK KR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Noto Sans CJK KR"/>
              </a:rPr>
              <a:t>자산으로</a:t>
            </a:r>
            <a:endParaRPr sz="1000" b="0" i="0" dirty="0">
              <a:solidFill>
                <a:srgbClr val="666666"/>
              </a:solidFill>
              <a:latin typeface="Noto Sans CJK KR"/>
            </a:endParaRPr>
          </a:p>
          <a:p>
            <a:pPr algn="l">
              <a:spcAft>
                <a:spcPts val="200"/>
              </a:spcAft>
            </a:pPr>
            <a:r>
              <a:rPr sz="1300" b="1" i="0" dirty="0" err="1">
                <a:solidFill>
                  <a:srgbClr val="1A237E"/>
                </a:solidFill>
                <a:latin typeface="Noto Sans CJK KR"/>
              </a:rPr>
              <a:t>지식</a:t>
            </a:r>
            <a:r>
              <a:rPr sz="1300" b="1" i="0" dirty="0">
                <a:solidFill>
                  <a:srgbClr val="1A237E"/>
                </a:solidFill>
                <a:latin typeface="Noto Sans CJK KR"/>
              </a:rPr>
              <a:t> </a:t>
            </a:r>
            <a:r>
              <a:rPr sz="1300" b="1" i="0" dirty="0" err="1">
                <a:solidFill>
                  <a:srgbClr val="1A237E"/>
                </a:solidFill>
                <a:latin typeface="Noto Sans CJK KR"/>
              </a:rPr>
              <a:t>전수</a:t>
            </a:r>
            <a:endParaRPr sz="1300" b="1" i="0" dirty="0">
              <a:solidFill>
                <a:srgbClr val="1A237E"/>
              </a:solidFill>
              <a:latin typeface="Noto Sans CJK KR"/>
            </a:endParaRPr>
          </a:p>
          <a:p>
            <a:pPr algn="l">
              <a:spcAft>
                <a:spcPts val="800"/>
              </a:spcAft>
            </a:pPr>
            <a:r>
              <a:rPr sz="1000" b="0" i="0" dirty="0" err="1">
                <a:solidFill>
                  <a:srgbClr val="666666"/>
                </a:solidFill>
                <a:latin typeface="Noto Sans CJK KR"/>
              </a:rPr>
              <a:t>신규</a:t>
            </a:r>
            <a:r>
              <a:rPr sz="1000" b="0" i="0" dirty="0">
                <a:solidFill>
                  <a:srgbClr val="666666"/>
                </a:solidFill>
                <a:latin typeface="Noto Sans CJK KR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Noto Sans CJK KR"/>
              </a:rPr>
              <a:t>연구자도</a:t>
            </a:r>
            <a:r>
              <a:rPr sz="1000" b="0" i="0" dirty="0">
                <a:solidFill>
                  <a:srgbClr val="666666"/>
                </a:solidFill>
                <a:latin typeface="Noto Sans CJK KR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Noto Sans CJK KR"/>
              </a:rPr>
              <a:t>등록</a:t>
            </a:r>
            <a:r>
              <a:rPr sz="1000" b="0" i="0" dirty="0">
                <a:solidFill>
                  <a:srgbClr val="666666"/>
                </a:solidFill>
                <a:latin typeface="Noto Sans CJK KR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Noto Sans CJK KR"/>
              </a:rPr>
              <a:t>모델</a:t>
            </a:r>
            <a:r>
              <a:rPr sz="1000" b="0" i="0" dirty="0">
                <a:solidFill>
                  <a:srgbClr val="666666"/>
                </a:solidFill>
                <a:latin typeface="Noto Sans CJK KR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Noto Sans CJK KR"/>
              </a:rPr>
              <a:t>즉시</a:t>
            </a:r>
            <a:r>
              <a:rPr sz="1000" b="0" i="0" dirty="0">
                <a:solidFill>
                  <a:srgbClr val="666666"/>
                </a:solidFill>
                <a:latin typeface="Noto Sans CJK KR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Noto Sans CJK KR"/>
              </a:rPr>
              <a:t>활용</a:t>
            </a:r>
            <a:endParaRPr sz="1000" b="0" i="0" dirty="0">
              <a:solidFill>
                <a:srgbClr val="666666"/>
              </a:solidFill>
              <a:latin typeface="Noto Sans CJK KR"/>
            </a:endParaRPr>
          </a:p>
          <a:p>
            <a:pPr algn="l">
              <a:spcAft>
                <a:spcPts val="200"/>
              </a:spcAft>
            </a:pPr>
            <a:r>
              <a:rPr sz="1300" b="1" i="0" dirty="0" err="1">
                <a:solidFill>
                  <a:srgbClr val="1A237E"/>
                </a:solidFill>
                <a:latin typeface="Noto Sans CJK KR"/>
              </a:rPr>
              <a:t>연구</a:t>
            </a:r>
            <a:r>
              <a:rPr sz="1300" b="1" i="0" dirty="0">
                <a:solidFill>
                  <a:srgbClr val="1A237E"/>
                </a:solidFill>
                <a:latin typeface="Noto Sans CJK KR"/>
              </a:rPr>
              <a:t> </a:t>
            </a:r>
            <a:r>
              <a:rPr sz="1300" b="1" i="0" dirty="0" err="1">
                <a:solidFill>
                  <a:srgbClr val="1A237E"/>
                </a:solidFill>
                <a:latin typeface="Noto Sans CJK KR"/>
              </a:rPr>
              <a:t>가속</a:t>
            </a:r>
            <a:endParaRPr sz="1300" b="1" i="0" dirty="0">
              <a:solidFill>
                <a:srgbClr val="1A237E"/>
              </a:solidFill>
              <a:latin typeface="Noto Sans CJK KR"/>
            </a:endParaRPr>
          </a:p>
          <a:p>
            <a:pPr algn="l">
              <a:spcAft>
                <a:spcPts val="800"/>
              </a:spcAft>
            </a:pPr>
            <a:r>
              <a:rPr sz="1000" b="0" i="0" dirty="0" err="1">
                <a:solidFill>
                  <a:srgbClr val="666666"/>
                </a:solidFill>
                <a:latin typeface="Noto Sans CJK KR"/>
              </a:rPr>
              <a:t>아이디어</a:t>
            </a:r>
            <a:r>
              <a:rPr sz="1000" b="0" i="0" dirty="0">
                <a:solidFill>
                  <a:srgbClr val="666666"/>
                </a:solidFill>
                <a:latin typeface="Noto Sans CJK KR"/>
              </a:rPr>
              <a:t> → </a:t>
            </a:r>
            <a:r>
              <a:rPr sz="1000" b="0" i="0" dirty="0" err="1">
                <a:solidFill>
                  <a:srgbClr val="666666"/>
                </a:solidFill>
                <a:latin typeface="Noto Sans CJK KR"/>
              </a:rPr>
              <a:t>초기</a:t>
            </a:r>
            <a:r>
              <a:rPr sz="1000" b="0" i="0" dirty="0">
                <a:solidFill>
                  <a:srgbClr val="666666"/>
                </a:solidFill>
                <a:latin typeface="Noto Sans CJK KR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Noto Sans CJK KR"/>
              </a:rPr>
              <a:t>결과까지</a:t>
            </a:r>
            <a:r>
              <a:rPr sz="1000" b="0" i="0" dirty="0">
                <a:solidFill>
                  <a:srgbClr val="666666"/>
                </a:solidFill>
                <a:latin typeface="Noto Sans CJK KR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Noto Sans CJK KR"/>
              </a:rPr>
              <a:t>시간</a:t>
            </a:r>
            <a:r>
              <a:rPr sz="1000" b="0" i="0" dirty="0">
                <a:solidFill>
                  <a:srgbClr val="666666"/>
                </a:solidFill>
                <a:latin typeface="Noto Sans CJK KR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Noto Sans CJK KR"/>
              </a:rPr>
              <a:t>대폭</a:t>
            </a:r>
            <a:r>
              <a:rPr sz="1000" b="0" i="0" dirty="0">
                <a:solidFill>
                  <a:srgbClr val="666666"/>
                </a:solidFill>
                <a:latin typeface="Noto Sans CJK KR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Noto Sans CJK KR"/>
              </a:rPr>
              <a:t>단축</a:t>
            </a:r>
            <a:endParaRPr sz="1000" b="0" i="0" dirty="0">
              <a:solidFill>
                <a:srgbClr val="666666"/>
              </a:solidFill>
              <a:latin typeface="Noto Sans CJK KR"/>
            </a:endParaRPr>
          </a:p>
          <a:p>
            <a:pPr algn="l">
              <a:spcAft>
                <a:spcPts val="200"/>
              </a:spcAft>
            </a:pPr>
            <a:r>
              <a:rPr sz="1300" b="1" i="0" dirty="0" err="1">
                <a:solidFill>
                  <a:srgbClr val="1A237E"/>
                </a:solidFill>
                <a:latin typeface="Noto Sans CJK KR"/>
              </a:rPr>
              <a:t>재현성</a:t>
            </a:r>
            <a:r>
              <a:rPr sz="1300" b="1" i="0" dirty="0">
                <a:solidFill>
                  <a:srgbClr val="1A237E"/>
                </a:solidFill>
                <a:latin typeface="Noto Sans CJK KR"/>
              </a:rPr>
              <a:t> </a:t>
            </a:r>
            <a:r>
              <a:rPr sz="1300" b="1" i="0" dirty="0" err="1">
                <a:solidFill>
                  <a:srgbClr val="1A237E"/>
                </a:solidFill>
                <a:latin typeface="Noto Sans CJK KR"/>
              </a:rPr>
              <a:t>확보</a:t>
            </a:r>
            <a:endParaRPr sz="1300" b="1" i="0" dirty="0">
              <a:solidFill>
                <a:srgbClr val="1A237E"/>
              </a:solidFill>
              <a:latin typeface="Noto Sans CJK KR"/>
            </a:endParaRPr>
          </a:p>
          <a:p>
            <a:pPr algn="l">
              <a:spcAft>
                <a:spcPts val="600"/>
              </a:spcAft>
            </a:pPr>
            <a:r>
              <a:rPr sz="1000" b="0" i="0" dirty="0" err="1">
                <a:solidFill>
                  <a:srgbClr val="666666"/>
                </a:solidFill>
                <a:latin typeface="Noto Sans CJK KR"/>
              </a:rPr>
              <a:t>모델</a:t>
            </a:r>
            <a:r>
              <a:rPr sz="1000" b="0" i="0" dirty="0">
                <a:solidFill>
                  <a:srgbClr val="666666"/>
                </a:solidFill>
                <a:latin typeface="Noto Sans CJK KR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Noto Sans CJK KR"/>
              </a:rPr>
              <a:t>버전</a:t>
            </a:r>
            <a:r>
              <a:rPr sz="1000" b="0" i="0" dirty="0">
                <a:solidFill>
                  <a:srgbClr val="666666"/>
                </a:solidFill>
                <a:latin typeface="Noto Sans CJK KR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Noto Sans CJK KR"/>
              </a:rPr>
              <a:t>관리로</a:t>
            </a:r>
            <a:r>
              <a:rPr sz="1000" b="0" i="0" dirty="0">
                <a:solidFill>
                  <a:srgbClr val="666666"/>
                </a:solidFill>
                <a:latin typeface="Noto Sans CJK KR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Noto Sans CJK KR"/>
              </a:rPr>
              <a:t>결과</a:t>
            </a:r>
            <a:r>
              <a:rPr sz="1000" b="0" i="0" dirty="0">
                <a:solidFill>
                  <a:srgbClr val="666666"/>
                </a:solidFill>
                <a:latin typeface="Noto Sans CJK KR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Noto Sans CJK KR"/>
              </a:rPr>
              <a:t>추적</a:t>
            </a:r>
            <a:r>
              <a:rPr sz="1000" b="0" i="0" dirty="0">
                <a:solidFill>
                  <a:srgbClr val="666666"/>
                </a:solidFill>
                <a:latin typeface="Noto Sans CJK KR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Noto Sans CJK KR"/>
              </a:rPr>
              <a:t>가능</a:t>
            </a:r>
            <a:endParaRPr sz="1000" b="0" i="0" dirty="0">
              <a:solidFill>
                <a:srgbClr val="666666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680026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dirty="0" err="1">
                <a:solidFill>
                  <a:srgbClr val="1A237E"/>
                </a:solidFill>
                <a:latin typeface="Noto Sans CJK KR"/>
              </a:rPr>
              <a:t>확장</a:t>
            </a:r>
            <a:r>
              <a:rPr sz="2800" b="1" i="0" dirty="0">
                <a:solidFill>
                  <a:srgbClr val="1A237E"/>
                </a:solidFill>
                <a:latin typeface="Noto Sans CJK KR"/>
              </a:rPr>
              <a:t> </a:t>
            </a:r>
            <a:r>
              <a:rPr sz="2800" b="1" i="0" dirty="0" err="1">
                <a:solidFill>
                  <a:srgbClr val="1A237E"/>
                </a:solidFill>
                <a:latin typeface="Noto Sans CJK KR"/>
              </a:rPr>
              <a:t>가능성</a:t>
            </a:r>
            <a:r>
              <a:rPr sz="2800" b="1" i="0" dirty="0">
                <a:solidFill>
                  <a:srgbClr val="1A237E"/>
                </a:solidFill>
                <a:latin typeface="Noto Sans CJK KR"/>
              </a:rPr>
              <a:t> — 100가지 </a:t>
            </a:r>
            <a:r>
              <a:rPr sz="2800" b="1" i="0" dirty="0" err="1">
                <a:solidFill>
                  <a:srgbClr val="1A237E"/>
                </a:solidFill>
                <a:latin typeface="Noto Sans CJK KR"/>
              </a:rPr>
              <a:t>특화</a:t>
            </a:r>
            <a:r>
              <a:rPr sz="2800" b="1" i="0" dirty="0">
                <a:solidFill>
                  <a:srgbClr val="1A237E"/>
                </a:solidFill>
                <a:latin typeface="Noto Sans CJK KR"/>
              </a:rPr>
              <a:t> </a:t>
            </a:r>
            <a:r>
              <a:rPr sz="2800" b="1" i="0" dirty="0" err="1">
                <a:solidFill>
                  <a:srgbClr val="1A237E"/>
                </a:solidFill>
                <a:latin typeface="Noto Sans CJK KR"/>
              </a:rPr>
              <a:t>하네스</a:t>
            </a:r>
            <a:r>
              <a:rPr lang="en-US" sz="2800" b="1" i="0" dirty="0">
                <a:solidFill>
                  <a:srgbClr val="1A237E"/>
                </a:solidFill>
                <a:latin typeface="Noto Sans CJK KR"/>
              </a:rPr>
              <a:t> (</a:t>
            </a:r>
            <a:r>
              <a:rPr lang="ko-KR" altLang="en-US" sz="2800" b="1" i="0" dirty="0">
                <a:solidFill>
                  <a:srgbClr val="1A237E"/>
                </a:solidFill>
                <a:latin typeface="Noto Sans CJK KR"/>
              </a:rPr>
              <a:t>예시</a:t>
            </a:r>
            <a:r>
              <a:rPr lang="en-US" altLang="ko-KR" sz="2800" b="1" i="0" dirty="0">
                <a:solidFill>
                  <a:srgbClr val="1A237E"/>
                </a:solidFill>
                <a:latin typeface="Noto Sans CJK KR"/>
              </a:rPr>
              <a:t>)</a:t>
            </a:r>
            <a:endParaRPr sz="2800" b="1" i="0" dirty="0">
              <a:solidFill>
                <a:srgbClr val="1A237E"/>
              </a:solidFill>
              <a:latin typeface="Noto Sans CJK KR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4572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6858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카테고리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개수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예시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태양 데이터 처리 &amp; 분석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AIA 파이프라인, synoptic map, 코로나홀 추적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우주기상 예보 &amp; 모니터링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13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Kp/Dst 예보, 태양풍 예측, SEP 예보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딥러닝 모델 개발 &amp; 실험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Pix2PixCC 학습, 초해상도, XAI 분석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코로나/자기장 물리 연구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3D 복원, NLFFF, MHD, 코로나 진동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논문 &amp; 연구 지원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논문 초안, 문헌 검토, 제안서 작성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데이터 관리 &amp; 인프라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모델 레지스트리, 환경 복제, 재현성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시각화 &amp; 커뮤니케이션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태양 애니메이션, 3D 코로나, 인포그래픽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교육 &amp; 온보딩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신규 연구자 가이드, 튜토리얼 생성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위성 미션 &amp; 관측 지원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관측 계획, conjunction 탐색, L4 미션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902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연구실 운영 &amp; 관리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지식 베이스, 회의록, 로드맵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046720" y="128016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0" y="13716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1A237E"/>
                </a:solidFill>
                <a:latin typeface="Noto Sans CJK KR"/>
              </a:rPr>
              <a:t>범용 vs 특화 하네스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737360"/>
            <a:ext cx="3291840" cy="181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Aft>
                <a:spcPts val="200"/>
              </a:spcAft>
            </a:pPr>
            <a:r>
              <a:rPr lang="ko-KR" altLang="en-US" sz="1100" dirty="0">
                <a:solidFill>
                  <a:srgbClr val="333333"/>
                </a:solidFill>
                <a:latin typeface="Noto Sans CJK KR"/>
              </a:rPr>
              <a:t>기본적인 </a:t>
            </a:r>
            <a:r>
              <a:rPr sz="1100" b="0" i="0" dirty="0">
                <a:solidFill>
                  <a:srgbClr val="333333"/>
                </a:solidFill>
                <a:latin typeface="Noto Sans CJK KR"/>
              </a:rPr>
              <a:t>research-</a:t>
            </a:r>
            <a:r>
              <a:rPr sz="1100" b="0" i="0" dirty="0" err="1">
                <a:solidFill>
                  <a:srgbClr val="333333"/>
                </a:solidFill>
                <a:latin typeface="Noto Sans CJK KR"/>
              </a:rPr>
              <a:t>task는</a:t>
            </a:r>
            <a:endParaRPr sz="1100" b="0" i="0" dirty="0">
              <a:solidFill>
                <a:srgbClr val="333333"/>
              </a:solidFill>
              <a:latin typeface="Noto Sans CJK KR"/>
            </a:endParaRPr>
          </a:p>
          <a:p>
            <a:pPr algn="l">
              <a:spcAft>
                <a:spcPts val="200"/>
              </a:spcAft>
            </a:pPr>
            <a:r>
              <a:rPr sz="1100" b="0" i="0" dirty="0" err="1">
                <a:solidFill>
                  <a:srgbClr val="333333"/>
                </a:solidFill>
                <a:latin typeface="Noto Sans CJK KR"/>
              </a:rPr>
              <a:t>범용</a:t>
            </a:r>
            <a:r>
              <a:rPr sz="1100" b="0" i="0" dirty="0">
                <a:solidFill>
                  <a:srgbClr val="333333"/>
                </a:solidFill>
                <a:latin typeface="Noto Sans CJK KR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Noto Sans CJK KR"/>
              </a:rPr>
              <a:t>파이프라인으로</a:t>
            </a:r>
            <a:r>
              <a:rPr sz="1100" b="0" i="0" dirty="0">
                <a:solidFill>
                  <a:srgbClr val="333333"/>
                </a:solidFill>
                <a:latin typeface="Noto Sans CJK KR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Noto Sans CJK KR"/>
              </a:rPr>
              <a:t>대부분을</a:t>
            </a:r>
            <a:endParaRPr sz="1100" b="0" i="0" dirty="0">
              <a:solidFill>
                <a:srgbClr val="333333"/>
              </a:solidFill>
              <a:latin typeface="Noto Sans CJK KR"/>
            </a:endParaRPr>
          </a:p>
          <a:p>
            <a:pPr algn="l">
              <a:spcAft>
                <a:spcPts val="800"/>
              </a:spcAft>
            </a:pPr>
            <a:r>
              <a:rPr sz="1100" b="0" i="0" dirty="0" err="1">
                <a:solidFill>
                  <a:srgbClr val="333333"/>
                </a:solidFill>
                <a:latin typeface="Noto Sans CJK KR"/>
              </a:rPr>
              <a:t>처리할</a:t>
            </a:r>
            <a:r>
              <a:rPr sz="1100" b="0" i="0" dirty="0">
                <a:solidFill>
                  <a:srgbClr val="333333"/>
                </a:solidFill>
                <a:latin typeface="Noto Sans CJK KR"/>
              </a:rPr>
              <a:t> 수 </a:t>
            </a:r>
            <a:r>
              <a:rPr sz="1100" b="0" i="0" dirty="0" err="1">
                <a:solidFill>
                  <a:srgbClr val="333333"/>
                </a:solidFill>
                <a:latin typeface="Noto Sans CJK KR"/>
              </a:rPr>
              <a:t>있습니다</a:t>
            </a:r>
            <a:r>
              <a:rPr sz="1100" b="0" i="0" dirty="0">
                <a:solidFill>
                  <a:srgbClr val="333333"/>
                </a:solidFill>
                <a:latin typeface="Noto Sans CJK KR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100" b="1" i="0" dirty="0" err="1">
                <a:solidFill>
                  <a:srgbClr val="1A237E"/>
                </a:solidFill>
                <a:latin typeface="Noto Sans CJK KR"/>
              </a:rPr>
              <a:t>특화</a:t>
            </a:r>
            <a:r>
              <a:rPr sz="1100" b="1" i="0" dirty="0">
                <a:solidFill>
                  <a:srgbClr val="1A237E"/>
                </a:solidFill>
                <a:latin typeface="Noto Sans CJK KR"/>
              </a:rPr>
              <a:t> </a:t>
            </a:r>
            <a:r>
              <a:rPr sz="1100" b="1" i="0" dirty="0" err="1">
                <a:solidFill>
                  <a:srgbClr val="1A237E"/>
                </a:solidFill>
                <a:latin typeface="Noto Sans CJK KR"/>
              </a:rPr>
              <a:t>하네스를</a:t>
            </a:r>
            <a:r>
              <a:rPr sz="1100" b="1" i="0" dirty="0">
                <a:solidFill>
                  <a:srgbClr val="1A237E"/>
                </a:solidFill>
                <a:latin typeface="Noto Sans CJK KR"/>
              </a:rPr>
              <a:t> </a:t>
            </a:r>
            <a:r>
              <a:rPr sz="1100" b="1" i="0" dirty="0" err="1">
                <a:solidFill>
                  <a:srgbClr val="1A237E"/>
                </a:solidFill>
                <a:latin typeface="Noto Sans CJK KR"/>
              </a:rPr>
              <a:t>만들면</a:t>
            </a:r>
            <a:r>
              <a:rPr sz="1100" b="1" i="0" dirty="0">
                <a:solidFill>
                  <a:srgbClr val="1A237E"/>
                </a:solidFill>
                <a:latin typeface="Noto Sans CJK KR"/>
              </a:rPr>
              <a:t>:</a:t>
            </a:r>
          </a:p>
          <a:p>
            <a:pPr algn="l">
              <a:spcAft>
                <a:spcPts val="200"/>
              </a:spcAft>
            </a:pPr>
            <a:r>
              <a:rPr sz="1100" b="0" i="0" dirty="0">
                <a:solidFill>
                  <a:srgbClr val="333333"/>
                </a:solidFill>
                <a:latin typeface="Noto Sans CJK KR"/>
              </a:rPr>
              <a:t>- </a:t>
            </a:r>
            <a:r>
              <a:rPr sz="1100" b="0" i="0" dirty="0" err="1">
                <a:solidFill>
                  <a:srgbClr val="333333"/>
                </a:solidFill>
                <a:latin typeface="Noto Sans CJK KR"/>
              </a:rPr>
              <a:t>정확한</a:t>
            </a:r>
            <a:r>
              <a:rPr sz="1100" b="0" i="0" dirty="0">
                <a:solidFill>
                  <a:srgbClr val="333333"/>
                </a:solidFill>
                <a:latin typeface="Noto Sans CJK KR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Noto Sans CJK KR"/>
              </a:rPr>
              <a:t>코드</a:t>
            </a:r>
            <a:r>
              <a:rPr sz="1100" b="0" i="0" dirty="0">
                <a:solidFill>
                  <a:srgbClr val="333333"/>
                </a:solidFill>
                <a:latin typeface="Noto Sans CJK KR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Noto Sans CJK KR"/>
              </a:rPr>
              <a:t>호출</a:t>
            </a:r>
            <a:endParaRPr sz="1100" b="0" i="0" dirty="0">
              <a:solidFill>
                <a:srgbClr val="333333"/>
              </a:solidFill>
              <a:latin typeface="Noto Sans CJK KR"/>
            </a:endParaRPr>
          </a:p>
          <a:p>
            <a:pPr algn="l">
              <a:spcAft>
                <a:spcPts val="200"/>
              </a:spcAft>
            </a:pPr>
            <a:r>
              <a:rPr sz="1100" b="0" i="0" dirty="0">
                <a:solidFill>
                  <a:srgbClr val="333333"/>
                </a:solidFill>
                <a:latin typeface="Noto Sans CJK KR"/>
              </a:rPr>
              <a:t>- </a:t>
            </a:r>
            <a:r>
              <a:rPr sz="1100" b="0" i="0" dirty="0" err="1">
                <a:solidFill>
                  <a:srgbClr val="333333"/>
                </a:solidFill>
                <a:latin typeface="Noto Sans CJK KR"/>
              </a:rPr>
              <a:t>도메인</a:t>
            </a:r>
            <a:r>
              <a:rPr sz="1100" b="0" i="0" dirty="0">
                <a:solidFill>
                  <a:srgbClr val="333333"/>
                </a:solidFill>
                <a:latin typeface="Noto Sans CJK KR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Noto Sans CJK KR"/>
              </a:rPr>
              <a:t>지식</a:t>
            </a:r>
            <a:r>
              <a:rPr sz="1100" b="0" i="0" dirty="0">
                <a:solidFill>
                  <a:srgbClr val="333333"/>
                </a:solidFill>
                <a:latin typeface="Noto Sans CJK KR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Noto Sans CJK KR"/>
              </a:rPr>
              <a:t>내장</a:t>
            </a:r>
            <a:endParaRPr sz="1100" b="0" i="0" dirty="0">
              <a:solidFill>
                <a:srgbClr val="333333"/>
              </a:solidFill>
              <a:latin typeface="Noto Sans CJK KR"/>
            </a:endParaRPr>
          </a:p>
          <a:p>
            <a:pPr algn="l">
              <a:spcAft>
                <a:spcPts val="600"/>
              </a:spcAft>
            </a:pPr>
            <a:r>
              <a:rPr sz="1100" b="0" i="0" dirty="0">
                <a:solidFill>
                  <a:srgbClr val="333333"/>
                </a:solidFill>
                <a:latin typeface="Noto Sans CJK KR"/>
              </a:rPr>
              <a:t>- </a:t>
            </a:r>
            <a:r>
              <a:rPr sz="1100" b="0" i="0" dirty="0" err="1">
                <a:solidFill>
                  <a:srgbClr val="333333"/>
                </a:solidFill>
                <a:latin typeface="Noto Sans CJK KR"/>
              </a:rPr>
              <a:t>오류율</a:t>
            </a:r>
            <a:r>
              <a:rPr sz="1100" b="0" i="0" dirty="0">
                <a:solidFill>
                  <a:srgbClr val="333333"/>
                </a:solidFill>
                <a:latin typeface="Noto Sans CJK KR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Noto Sans CJK KR"/>
              </a:rPr>
              <a:t>감소</a:t>
            </a:r>
            <a:endParaRPr sz="1100" b="0" i="0" dirty="0">
              <a:solidFill>
                <a:srgbClr val="333333"/>
              </a:solidFill>
              <a:latin typeface="Noto Sans CJK KR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6720" y="384048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FDFDE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39319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Aft>
                <a:spcPts val="800"/>
              </a:spcAft>
            </a:pPr>
            <a:r>
              <a:rPr sz="1300" b="1" i="0" dirty="0" err="1">
                <a:solidFill>
                  <a:srgbClr val="1A237E"/>
                </a:solidFill>
                <a:latin typeface="Noto Sans CJK KR"/>
              </a:rPr>
              <a:t>하지만</a:t>
            </a:r>
            <a:r>
              <a:rPr sz="1300" b="1" i="0" dirty="0">
                <a:solidFill>
                  <a:srgbClr val="1A237E"/>
                </a:solidFill>
                <a:latin typeface="Noto Sans CJK KR"/>
              </a:rPr>
              <a:t> </a:t>
            </a:r>
            <a:r>
              <a:rPr sz="1300" b="1" i="0" dirty="0" err="1">
                <a:solidFill>
                  <a:srgbClr val="1A237E"/>
                </a:solidFill>
                <a:latin typeface="Noto Sans CJK KR"/>
              </a:rPr>
              <a:t>이것은</a:t>
            </a:r>
            <a:r>
              <a:rPr sz="1300" b="1" i="0" dirty="0">
                <a:solidFill>
                  <a:srgbClr val="1A237E"/>
                </a:solidFill>
                <a:latin typeface="Noto Sans CJK KR"/>
              </a:rPr>
              <a:t> </a:t>
            </a:r>
            <a:r>
              <a:rPr sz="1300" b="1" i="0" dirty="0" err="1">
                <a:solidFill>
                  <a:srgbClr val="1A237E"/>
                </a:solidFill>
                <a:latin typeface="Noto Sans CJK KR"/>
              </a:rPr>
              <a:t>샘플입니다</a:t>
            </a:r>
            <a:endParaRPr sz="1300" b="1" i="0" dirty="0">
              <a:solidFill>
                <a:srgbClr val="1A237E"/>
              </a:solidFill>
              <a:latin typeface="Noto Sans CJK KR"/>
            </a:endParaRPr>
          </a:p>
          <a:p>
            <a:pPr algn="l">
              <a:spcAft>
                <a:spcPts val="200"/>
              </a:spcAft>
            </a:pPr>
            <a:r>
              <a:rPr sz="1100" b="0" i="0" dirty="0" err="1">
                <a:solidFill>
                  <a:srgbClr val="333333"/>
                </a:solidFill>
                <a:latin typeface="Noto Sans CJK KR"/>
              </a:rPr>
              <a:t>실제로</a:t>
            </a:r>
            <a:r>
              <a:rPr sz="1100" b="0" i="0" dirty="0">
                <a:solidFill>
                  <a:srgbClr val="333333"/>
                </a:solidFill>
                <a:latin typeface="Noto Sans CJK KR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Noto Sans CJK KR"/>
              </a:rPr>
              <a:t>의미있는</a:t>
            </a:r>
            <a:r>
              <a:rPr sz="1100" b="0" i="0" dirty="0">
                <a:solidFill>
                  <a:srgbClr val="333333"/>
                </a:solidFill>
                <a:latin typeface="Noto Sans CJK KR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Noto Sans CJK KR"/>
              </a:rPr>
              <a:t>하네스를</a:t>
            </a:r>
            <a:r>
              <a:rPr sz="1100" b="0" i="0" dirty="0">
                <a:solidFill>
                  <a:srgbClr val="333333"/>
                </a:solidFill>
                <a:latin typeface="Noto Sans CJK KR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Noto Sans CJK KR"/>
              </a:rPr>
              <a:t>만들려면</a:t>
            </a:r>
            <a:endParaRPr sz="1100" b="0" i="0" dirty="0">
              <a:solidFill>
                <a:srgbClr val="333333"/>
              </a:solidFill>
              <a:latin typeface="Noto Sans CJK KR"/>
            </a:endParaRPr>
          </a:p>
          <a:p>
            <a:pPr algn="l">
              <a:spcAft>
                <a:spcPts val="200"/>
              </a:spcAft>
            </a:pPr>
            <a:r>
              <a:rPr sz="1100" b="0" i="0" dirty="0" err="1">
                <a:solidFill>
                  <a:srgbClr val="333333"/>
                </a:solidFill>
                <a:latin typeface="Noto Sans CJK KR"/>
              </a:rPr>
              <a:t>연구실의</a:t>
            </a:r>
            <a:r>
              <a:rPr sz="1100" b="0" i="0" dirty="0">
                <a:solidFill>
                  <a:srgbClr val="333333"/>
                </a:solidFill>
                <a:latin typeface="Noto Sans CJK KR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Noto Sans CJK KR"/>
              </a:rPr>
              <a:t>기존</a:t>
            </a:r>
            <a:r>
              <a:rPr sz="1100" b="0" i="0" dirty="0">
                <a:solidFill>
                  <a:srgbClr val="333333"/>
                </a:solidFill>
                <a:latin typeface="Noto Sans CJK KR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Noto Sans CJK KR"/>
              </a:rPr>
              <a:t>코드를</a:t>
            </a:r>
            <a:r>
              <a:rPr sz="1100" b="0" i="0" dirty="0">
                <a:solidFill>
                  <a:srgbClr val="333333"/>
                </a:solidFill>
                <a:latin typeface="Noto Sans CJK KR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Noto Sans CJK KR"/>
              </a:rPr>
              <a:t>읽고</a:t>
            </a:r>
            <a:endParaRPr sz="1100" b="0" i="0" dirty="0">
              <a:solidFill>
                <a:srgbClr val="333333"/>
              </a:solidFill>
              <a:latin typeface="Noto Sans CJK KR"/>
            </a:endParaRPr>
          </a:p>
          <a:p>
            <a:pPr algn="l">
              <a:spcAft>
                <a:spcPts val="200"/>
              </a:spcAft>
            </a:pPr>
            <a:r>
              <a:rPr sz="1100" b="0" i="0" dirty="0">
                <a:solidFill>
                  <a:srgbClr val="333333"/>
                </a:solidFill>
                <a:latin typeface="Noto Sans CJK KR"/>
              </a:rPr>
              <a:t>그 </a:t>
            </a:r>
            <a:r>
              <a:rPr sz="1100" b="0" i="0" dirty="0" err="1">
                <a:solidFill>
                  <a:srgbClr val="333333"/>
                </a:solidFill>
                <a:latin typeface="Noto Sans CJK KR"/>
              </a:rPr>
              <a:t>코드에</a:t>
            </a:r>
            <a:r>
              <a:rPr sz="1100" b="0" i="0" dirty="0">
                <a:solidFill>
                  <a:srgbClr val="333333"/>
                </a:solidFill>
                <a:latin typeface="Noto Sans CJK KR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Noto Sans CJK KR"/>
              </a:rPr>
              <a:t>맞는</a:t>
            </a:r>
            <a:r>
              <a:rPr sz="1100" b="0" i="0" dirty="0">
                <a:solidFill>
                  <a:srgbClr val="333333"/>
                </a:solidFill>
                <a:latin typeface="Noto Sans CJK KR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Noto Sans CJK KR"/>
              </a:rPr>
              <a:t>하네스를</a:t>
            </a:r>
            <a:endParaRPr sz="1100" b="0" i="0" dirty="0">
              <a:solidFill>
                <a:srgbClr val="333333"/>
              </a:solidFill>
              <a:latin typeface="Noto Sans CJK KR"/>
            </a:endParaRPr>
          </a:p>
          <a:p>
            <a:pPr algn="l">
              <a:spcAft>
                <a:spcPts val="600"/>
              </a:spcAft>
            </a:pPr>
            <a:r>
              <a:rPr sz="1100" b="1" i="0" dirty="0" err="1">
                <a:solidFill>
                  <a:srgbClr val="1A237E"/>
                </a:solidFill>
                <a:latin typeface="Noto Sans CJK KR"/>
              </a:rPr>
              <a:t>자동</a:t>
            </a:r>
            <a:r>
              <a:rPr sz="1100" b="1" i="0" dirty="0">
                <a:solidFill>
                  <a:srgbClr val="1A237E"/>
                </a:solidFill>
                <a:latin typeface="Noto Sans CJK KR"/>
              </a:rPr>
              <a:t> </a:t>
            </a:r>
            <a:r>
              <a:rPr sz="1100" b="1" i="0" dirty="0" err="1">
                <a:solidFill>
                  <a:srgbClr val="1A237E"/>
                </a:solidFill>
                <a:latin typeface="Noto Sans CJK KR"/>
              </a:rPr>
              <a:t>생성해야</a:t>
            </a:r>
            <a:r>
              <a:rPr sz="1100" b="1" i="0" dirty="0">
                <a:solidFill>
                  <a:srgbClr val="1A237E"/>
                </a:solidFill>
                <a:latin typeface="Noto Sans CJK KR"/>
              </a:rPr>
              <a:t> </a:t>
            </a:r>
            <a:r>
              <a:rPr sz="1100" b="1" i="0" dirty="0" err="1">
                <a:solidFill>
                  <a:srgbClr val="1A237E"/>
                </a:solidFill>
                <a:latin typeface="Noto Sans CJK KR"/>
              </a:rPr>
              <a:t>합니다</a:t>
            </a:r>
            <a:r>
              <a:rPr sz="1100" b="1" i="0" dirty="0">
                <a:solidFill>
                  <a:srgbClr val="1A237E"/>
                </a:solidFill>
                <a:latin typeface="Noto Sans CJK KR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Noto Sans CJK KR"/>
              </a:rPr>
              <a:t>기술 요약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011680" cy="201168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C5CAE9"/>
                </a:solidFill>
                <a:latin typeface="Noto Sans CJK KR"/>
              </a:rPr>
              <a:t>기반 기술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Noto Sans CJK KR"/>
              </a:rPr>
              <a:t>Claude Code
(Anthropic AI)
에이전트 프레임워크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371600"/>
            <a:ext cx="2011680" cy="201168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08960" y="1463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C5CAE9"/>
                </a:solidFill>
                <a:latin typeface="Noto Sans CJK KR"/>
              </a:rPr>
              <a:t>AI 모듈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920240"/>
            <a:ext cx="1828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0" i="0" dirty="0" err="1">
                <a:solidFill>
                  <a:srgbClr val="FFFFFF"/>
                </a:solidFill>
                <a:latin typeface="Noto Sans CJK KR"/>
              </a:rPr>
              <a:t>NN</a:t>
            </a:r>
            <a:r>
              <a:rPr sz="1200" b="0" i="0" dirty="0" err="1">
                <a:solidFill>
                  <a:srgbClr val="FFFFFF"/>
                </a:solidFill>
                <a:latin typeface="Noto Sans CJK KR"/>
              </a:rPr>
              <a:t>개</a:t>
            </a:r>
            <a:r>
              <a:rPr sz="1200" b="0" i="0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Noto Sans CJK KR"/>
              </a:rPr>
              <a:t>전문</a:t>
            </a:r>
            <a:r>
              <a:rPr sz="1200" b="0" i="0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Noto Sans CJK KR"/>
              </a:rPr>
              <a:t>에이전트</a:t>
            </a:r>
            <a:r>
              <a:rPr sz="1200" b="0" i="0" dirty="0">
                <a:solidFill>
                  <a:srgbClr val="FFFFFF"/>
                </a:solidFill>
                <a:latin typeface="Noto Sans CJK KR"/>
              </a:rPr>
              <a:t>
</a:t>
            </a:r>
            <a:r>
              <a:rPr lang="en-US" sz="1200" b="0" i="0" dirty="0" err="1">
                <a:solidFill>
                  <a:srgbClr val="FFFFFF"/>
                </a:solidFill>
                <a:latin typeface="Noto Sans CJK KR"/>
              </a:rPr>
              <a:t>NN</a:t>
            </a:r>
            <a:r>
              <a:rPr sz="1200" b="0" i="0" dirty="0" err="1">
                <a:solidFill>
                  <a:srgbClr val="FFFFFF"/>
                </a:solidFill>
                <a:latin typeface="Noto Sans CJK KR"/>
              </a:rPr>
              <a:t>개</a:t>
            </a:r>
            <a:r>
              <a:rPr sz="1200" b="0" i="0" dirty="0">
                <a:solidFill>
                  <a:srgbClr val="FFFFFF"/>
                </a:solidFill>
                <a:latin typeface="Noto Sans CJK KR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Noto Sans CJK KR"/>
              </a:rPr>
              <a:t>스킬</a:t>
            </a:r>
            <a:endParaRPr sz="1200" b="0" i="0" dirty="0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303520" y="1371600"/>
            <a:ext cx="2011680" cy="201168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94959" y="1463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C5CAE9"/>
                </a:solidFill>
                <a:latin typeface="Noto Sans CJK KR"/>
              </a:rPr>
              <a:t>데이터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59" y="192024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Noto Sans CJK KR"/>
              </a:rPr>
              <a:t>NOAA, SDO, Solar Orbiter
STEREO, VSO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1371600"/>
            <a:ext cx="2011680" cy="201168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60" y="1463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C5CAE9"/>
                </a:solidFill>
                <a:latin typeface="Noto Sans CJK KR"/>
              </a:rPr>
              <a:t>모델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192024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Noto Sans CJK KR"/>
              </a:rPr>
              <a:t>파일 기반 레지스트리
model_card.md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0" y="1371600"/>
            <a:ext cx="2011680" cy="201168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66960" y="1463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C5CAE9"/>
                </a:solidFill>
                <a:latin typeface="Noto Sans CJK KR"/>
              </a:rPr>
              <a:t>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192024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Noto Sans CJK KR"/>
              </a:rPr>
              <a:t>Slack Webhook
Telegram Bot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840480"/>
            <a:ext cx="3047695" cy="36576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916403" y="4114800"/>
            <a:ext cx="4358886" cy="17953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 dirty="0">
                <a:solidFill>
                  <a:srgbClr val="FFFFFF"/>
                </a:solidFill>
                <a:latin typeface="Noto Sans CJK KR"/>
              </a:rPr>
              <a:t>SSWL AI Harness</a:t>
            </a:r>
          </a:p>
          <a:p>
            <a:pPr algn="l">
              <a:spcAft>
                <a:spcPts val="600"/>
              </a:spcAft>
            </a:pPr>
            <a:endParaRPr sz="3600" b="1" i="0" dirty="0">
              <a:solidFill>
                <a:srgbClr val="FFFFFF"/>
              </a:solidFill>
              <a:latin typeface="Noto Sans CJK KR"/>
            </a:endParaRPr>
          </a:p>
          <a:p>
            <a:pPr algn="ctr">
              <a:spcAft>
                <a:spcPts val="200"/>
              </a:spcAft>
            </a:pPr>
            <a:r>
              <a:rPr sz="1600" b="0" i="0" dirty="0" err="1">
                <a:solidFill>
                  <a:srgbClr val="9FA8DA"/>
                </a:solidFill>
                <a:latin typeface="Noto Sans CJK KR"/>
              </a:rPr>
              <a:t>연구실에서</a:t>
            </a:r>
            <a:r>
              <a:rPr sz="1600" b="0" i="0" dirty="0">
                <a:solidFill>
                  <a:srgbClr val="9FA8DA"/>
                </a:solidFill>
                <a:latin typeface="Noto Sans CJK KR"/>
              </a:rPr>
              <a:t> </a:t>
            </a:r>
            <a:r>
              <a:rPr sz="1600" b="0" i="0" dirty="0" err="1">
                <a:solidFill>
                  <a:srgbClr val="9FA8DA"/>
                </a:solidFill>
                <a:latin typeface="Noto Sans CJK KR"/>
              </a:rPr>
              <a:t>개발된</a:t>
            </a:r>
            <a:r>
              <a:rPr sz="1600" b="0" i="0" dirty="0">
                <a:solidFill>
                  <a:srgbClr val="9FA8DA"/>
                </a:solidFill>
                <a:latin typeface="Noto Sans CJK KR"/>
              </a:rPr>
              <a:t> </a:t>
            </a:r>
            <a:r>
              <a:rPr sz="1600" b="0" i="0" dirty="0" err="1">
                <a:solidFill>
                  <a:srgbClr val="9FA8DA"/>
                </a:solidFill>
                <a:latin typeface="Noto Sans CJK KR"/>
              </a:rPr>
              <a:t>모델을</a:t>
            </a:r>
            <a:r>
              <a:rPr sz="1600" b="0" i="0" dirty="0">
                <a:solidFill>
                  <a:srgbClr val="9FA8DA"/>
                </a:solidFill>
                <a:latin typeface="Noto Sans CJK KR"/>
              </a:rPr>
              <a:t> </a:t>
            </a:r>
            <a:r>
              <a:rPr sz="1600" b="0" i="0" dirty="0" err="1">
                <a:solidFill>
                  <a:srgbClr val="9FA8DA"/>
                </a:solidFill>
                <a:latin typeface="Noto Sans CJK KR"/>
              </a:rPr>
              <a:t>누구나</a:t>
            </a:r>
            <a:r>
              <a:rPr sz="1600" b="0" i="0" dirty="0">
                <a:solidFill>
                  <a:srgbClr val="9FA8DA"/>
                </a:solidFill>
                <a:latin typeface="Noto Sans CJK KR"/>
              </a:rPr>
              <a:t> </a:t>
            </a:r>
            <a:r>
              <a:rPr sz="1600" b="0" i="0" dirty="0" err="1">
                <a:solidFill>
                  <a:srgbClr val="9FA8DA"/>
                </a:solidFill>
                <a:latin typeface="Noto Sans CJK KR"/>
              </a:rPr>
              <a:t>활용하고</a:t>
            </a:r>
            <a:r>
              <a:rPr sz="1600" b="0" i="0" dirty="0">
                <a:solidFill>
                  <a:srgbClr val="9FA8DA"/>
                </a:solidFill>
                <a:latin typeface="Noto Sans CJK KR"/>
              </a:rPr>
              <a:t>,</a:t>
            </a:r>
          </a:p>
          <a:p>
            <a:pPr algn="ctr">
              <a:spcAft>
                <a:spcPts val="600"/>
              </a:spcAft>
            </a:pPr>
            <a:r>
              <a:rPr sz="1600" b="0" i="0" dirty="0" err="1">
                <a:solidFill>
                  <a:srgbClr val="9FA8DA"/>
                </a:solidFill>
                <a:latin typeface="Noto Sans CJK KR"/>
              </a:rPr>
              <a:t>아이디어를</a:t>
            </a:r>
            <a:r>
              <a:rPr sz="1600" b="0" i="0" dirty="0">
                <a:solidFill>
                  <a:srgbClr val="9FA8DA"/>
                </a:solidFill>
                <a:latin typeface="Noto Sans CJK KR"/>
              </a:rPr>
              <a:t> </a:t>
            </a:r>
            <a:r>
              <a:rPr sz="1600" b="0" i="0" dirty="0" err="1">
                <a:solidFill>
                  <a:srgbClr val="9FA8DA"/>
                </a:solidFill>
                <a:latin typeface="Noto Sans CJK KR"/>
              </a:rPr>
              <a:t>빠르게</a:t>
            </a:r>
            <a:r>
              <a:rPr sz="1600" b="0" i="0" dirty="0">
                <a:solidFill>
                  <a:srgbClr val="9FA8DA"/>
                </a:solidFill>
                <a:latin typeface="Noto Sans CJK KR"/>
              </a:rPr>
              <a:t> </a:t>
            </a:r>
            <a:r>
              <a:rPr sz="1600" b="0" i="0" dirty="0" err="1">
                <a:solidFill>
                  <a:srgbClr val="9FA8DA"/>
                </a:solidFill>
                <a:latin typeface="Noto Sans CJK KR"/>
              </a:rPr>
              <a:t>검증합니다</a:t>
            </a:r>
            <a:r>
              <a:rPr sz="1600" b="0" i="0" dirty="0">
                <a:solidFill>
                  <a:srgbClr val="9FA8DA"/>
                </a:solidFill>
                <a:latin typeface="Noto Sans CJK KR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7986CB"/>
                </a:solidFill>
                <a:latin typeface="Noto Sans CJK KR"/>
              </a:rPr>
              <a:t>본 시스템은 연구자의 판단을 대체하지 않습니다. AI는 도구이며, 최종 의사결정은 항상 연구자에게 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1381</Words>
  <Application>Microsoft Office PowerPoint</Application>
  <PresentationFormat>와이드스크린</PresentationFormat>
  <Paragraphs>283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Noto Sans CJK KR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 승규</cp:lastModifiedBy>
  <cp:revision>5</cp:revision>
  <dcterms:created xsi:type="dcterms:W3CDTF">2013-01-27T09:14:16Z</dcterms:created>
  <dcterms:modified xsi:type="dcterms:W3CDTF">2026-03-30T01:44:17Z</dcterms:modified>
  <cp:category/>
</cp:coreProperties>
</file>