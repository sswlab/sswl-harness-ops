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C5CAE9"/>
                </a:solidFill>
                <a:latin typeface="Noto Sans CJK KR"/>
              </a:rPr>
              <a:t>태양 및 우주환경연구실을 위한 연구 지원 AI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oto Sans CJK KR"/>
              </a:rPr>
              <a:t>SSWL AI Harness v2.0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383280"/>
            <a:ext cx="3047695" cy="36576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9FA8DA"/>
                </a:solidFill>
                <a:latin typeface="Noto Sans CJK KR"/>
              </a:rPr>
              <a:t>모델 아카이빙  ·  연구 업무 수행  ·  아이디어→실험 결과  ·  논문 초안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1">
                <a:solidFill>
                  <a:srgbClr val="9FA8DA"/>
                </a:solidFill>
                <a:latin typeface="Noto Sans CJK KR"/>
              </a:rPr>
              <a:t>"연구실에서 개발된 모델을 누구나 활용하고, 아이디어를 빠르게 검증합니다."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7986CB"/>
                </a:solidFill>
                <a:latin typeface="Noto Sans CJK KR"/>
              </a:rPr>
              <a:t>2026  ·  태양 및 우주환경연구실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A237E"/>
                </a:solidFill>
                <a:latin typeface="Noto Sans CJK KR"/>
              </a:rPr>
              <a:t>이 시스템은 왜 필요한가요?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2860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기존 방식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문제점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연구실 모델이 개발자 PC에만 존재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개발자 부재 시 아무도 실행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실행 방법이 구전으로 전수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새 연구자 합류 시 재교육 필요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수집을 사이트별로 수동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연구 시간 상당 부분이 데이터 수집에 소요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아이디어에서 실험까지 오래 걸림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 → 데이터 → 실행 → 분석이 수일~수주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버전 관리 부재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어떤 버전으로 어떤 결과를 냈는지 추적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3716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5544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SSWL AI 하네스 v2.0은</a:t>
            </a:r>
          </a:p>
          <a:p>
            <a:pPr algn="l">
              <a:spcAft>
                <a:spcPts val="600"/>
              </a:spcAft>
            </a:pPr>
            <a:r>
              <a:rPr sz="600" b="0" i="0">
                <a:solidFill>
                  <a:srgbClr val="1A1A1A"/>
                </a:solidFill>
                <a:latin typeface="Noto Sans CJK KR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모델을 표준화·아카이빙하고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누구나 자연어로 실행하며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아이디어를 빠르게 실험 결과로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전환합니다.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949AB"/>
                </a:solidFill>
                <a:latin typeface="Noto Sans CJK KR"/>
              </a:rPr>
              <a:t>모델은 자산화  ·  누구나 활용  ·  아이디어에서 결과까지 당일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A237E"/>
                </a:solidFill>
                <a:latin typeface="Noto Sans CJK KR"/>
              </a:rPr>
              <a:t>시스템 한눈에 보기 — 세 가지 핵심 기능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2860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83593"/>
                </a:solidFill>
                <a:latin typeface="Noto Sans CJK KR"/>
              </a:rPr>
              <a:t>① 연구 업무 수행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1. 연구자 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자연어로
작업 요청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2. 계획 수립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AI가 실행계획
자동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3.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연구자가
계획 검토·승인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4. 자동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데이터 수집 →
모델 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4632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5. 결과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보고서 생성
시각화 포함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484632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4937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6. 후속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3035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다음 분석
자동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3716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Noto Sans CJK KR"/>
              </a:rPr>
              <a:t>② 모델 아카이빙 &amp; 활용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모델 등록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코드 분석 →
모델 카드 자동 생성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79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19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모델 목록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19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등록된 모델
표/카드로 조회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59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모델 활용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자연어 요청 →
자동 실행·결과 보고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79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19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버전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19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업데이트 시
이전 버전 보존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166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Noto Sans CJK KR"/>
              </a:rPr>
              <a:t>개발에 참여하지 않은
연구자도 동일하게 사용 가능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13716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270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4A148C"/>
                </a:solidFill>
                <a:latin typeface="Noto Sans CJK KR"/>
              </a:rPr>
              <a:t>③ 아이디어 → 실험 결과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아이디어 분석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핵심 질문 추출
가설 수립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실험 설계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Baseline vs
Experiment 설계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실험 실행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데이터 수집 →
모델 실행 → 비교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6696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결과 + 논문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통계 분석 보고
논문 초안 작성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166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4A148C"/>
                </a:solidFill>
                <a:latin typeface="Noto Sans CJK KR"/>
              </a:rPr>
              <a:t>"교수님 아이디어 말씀하시면
간단한 실험 결과 보여드립니다"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기능 1. 연구 업무 수행 — "말하면 해줍니다"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요청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"최근 1달 HMI 데이터로 synoptic map 만들어줘"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"AIA 193 이미지에서 코로나홀 찾아줘"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"이걸로 PFSS 시뮬레이션 돌려줘"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처리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1. 요청 → query-planner가 실행 계획 수립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2. 연구자 승인 (반드시 승인 후 실행)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3. task-executor가 자동 실행 (데이터→모델→후처리)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4. result-reporter가 결과 보고 + 후속 제안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2286000"/>
          </a:xfrm>
          <a:prstGeom prst="roundRect">
            <a:avLst>
              <a:gd name="adj" fmla="val 5000"/>
            </a:avLst>
          </a:prstGeom>
          <a:solidFill>
            <a:srgbClr val="FDFD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시나리오: Synoptic Map → PFSS 연속 작업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연구자: "최근 1달 SO/PHI와 SDO/HMI 데이터로 synoptic map 만들어줘"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AI: 계획 제시 (4단계, 40~60분 예상) → 승인 후 자동 실행 → 결과 보고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"이 map으로 PFSS 시뮬레이션 가능합니다"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연구자: "이걸로 PFSS 돌려줘" → 이전 결과 자동 참조하여 즉시 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기능 2. 모델 아카이빙 — "개발하지 않았어도 사용합니다"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E7D32"/>
                </a:solidFill>
                <a:latin typeface="Noto Sans CJK KR"/>
              </a:rPr>
              <a:t>모델 등록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개발자: "코로나홀 탐지 모델 등록해줘. 코드는 여기에."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AI가 코드 분석 (입출력, 의존성, 실행 방법 파악)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모델 카드(사용 설명서) + 실행 래퍼 자동 생성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model_registry에 등록 완료 + 테스트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모델 활용 (개발 미참여 연구자)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연구자B: "코로나홀 탐지 모델로 어제 AIA 193 분석해줘"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모델 카드 참조 → 필요 데이터 자동 수집 (JSOC)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모델 자동 실행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결과 시각화 및 보고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등록 모델 목록 예시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3931920"/>
          <a:ext cx="8686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2286000"/>
                <a:gridCol w="2286000"/>
                <a:gridCol w="13716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#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모델명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용도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입력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개발자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coronal_hole_detect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코로나홀 탐지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AIA 193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김연구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dem_model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DEM 분석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AIA 6채널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이연구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pix2pixcc_fsi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EUI 채널 합성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FSI 174+304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윤준무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synoptic_map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Synoptic map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HMI 자기장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(내장)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pfss_sim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PFSS 시뮬레이션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Synoptic 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(내장)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기능 3. 아이디어 → 실험 결과 — "말하면 실험합니다"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846320"/>
          </a:xfrm>
          <a:prstGeom prst="roundRect">
            <a:avLst>
              <a:gd name="adj" fmla="val 5000"/>
            </a:avLst>
          </a:prstGeom>
          <a:solidFill>
            <a:srgbClr val="FDFD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4A148C"/>
                </a:solidFill>
                <a:latin typeface="Noto Sans CJK KR"/>
              </a:rPr>
              <a:t>시나리오: EUI DEM 연구에서 Magnetogram 추가 효과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4A148C"/>
                </a:solidFill>
                <a:latin typeface="Noto Sans CJK KR"/>
              </a:rPr>
              <a:t>교수님: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"Solar Orbiter DEM 연구에서 Magnetogram을
 DL 입력에 추가하면 합성 채널이 좋아질까?"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237E"/>
                </a:solidFill>
                <a:latin typeface="Noto Sans CJK KR"/>
              </a:rPr>
              <a:t>AI → 아이디어 분석: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배경: EUI/FSI 2채널 → Pix2PixCC → 합성 5채널 → DEM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제안: DL 입력에 magnetogram 추가 시 품질 개선?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237E"/>
                </a:solidFill>
                <a:latin typeface="Noto Sans CJK KR"/>
              </a:rPr>
              <a:t>AI → 실험 설계: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Baseline: AIA 171+304 → Pix2PixCC → DEM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Experiment: 171+304+HMI mag → Modified Pix2PixCC → DEM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Reference: 실제 AIA 6채널 DEM (ground truth)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교수님: "비교할 때 활동영역과 조용한 영역 따로 봐줘"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AI: 영역 분류 단계 추가하여 계획 수정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270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4A148C"/>
                </a:solidFill>
                <a:latin typeface="Noto Sans CJK KR"/>
              </a:rPr>
              <a:t>실험 결과 (예시)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합성 94 A 채널 CC: 0.87 → 0.91 개선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4A148C"/>
                </a:solidFill>
                <a:latin typeface="Noto Sans CJK KR"/>
              </a:rPr>
              <a:t>활동영역 DEM: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  logT 6.0~6.5 EM 오차 15% 감소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4A148C"/>
                </a:solidFill>
                <a:latin typeface="Noto Sans CJK KR"/>
              </a:rPr>
              <a:t>조용한 영역: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  유의미한 차이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389120"/>
            <a:ext cx="5029200" cy="155448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4805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"이걸로 논문 초안 써줘"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463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Introduction: EUI DEM 한계 + DL 접근 배경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Method: Pix2PixCC 수정, 학습 데이터, DEM 방법론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Results: 채널 품질 비교 + DEM 비교 (영역별)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Discussion: 자기장 정보 기여 해석 + 한계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연구실 논문 아카이브 (51편, 2019~2026)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914400"/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연구 분야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주요 내용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논문 수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딥러닝 이미지 변환/합성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EUV↔자기장, 채널 합성, 백색광, He 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8편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 뒷면 자기장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STEREO/EUV → farside magnetogram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4편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DEM 연구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EUI 합성 채널 → DEM, Pixel-to-pixel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2편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우주기상 예보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태양풍, IMF Bz, 플레어, 전리층 예측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12편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 자기장/코로나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NLFFF, PFSS, Synoptic map, 3D 복원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8편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코로나 진동/파동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플룸, 루프, Alfven 속도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CME/SEP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CME 질량, ICME, SEP 소스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미션/관측 시스템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L4 미션, 망원경 제어, 채널 최적화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3편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0" y="128016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게재 저널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33333"/>
                </a:solidFill>
                <a:latin typeface="Noto Sans CJK KR"/>
              </a:rPr>
              <a:t>Nature Astronomy — 2편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ApJ / ApJS / ApJL — 다수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A&amp;A, Space Weather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Solar Physics, Remote Sensing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JKAS, JASTP, PASP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840480"/>
            <a:ext cx="4114800" cy="2103120"/>
          </a:xfrm>
          <a:prstGeom prst="roundRect">
            <a:avLst>
              <a:gd name="adj" fmla="val 5000"/>
            </a:avLst>
          </a:prstGeom>
          <a:solidFill>
            <a:srgbClr val="FDFD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93192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AI에게 물어보세요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29768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"플레어 예보 관련 논문 뭐가 있어?"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"태양 뒷면 자기장 연구 히스토리
 정리해줘"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"DEM 관련 우리 논문 참고문헌에
 넣으려는데 찾아줘"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A237E"/>
                </a:solidFill>
                <a:latin typeface="Noto Sans CJK KR"/>
              </a:rPr>
              <a:t>기대 효과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3716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7432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기존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도입 후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사용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개발자에게 의존, 구전 교육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자연어로 누구나 즉시 실행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수집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여러 사이트 수동 다운로드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AI가 자동 수집·검증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수집~분석까지 수일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 제시 후 당일 결과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실행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명령어 직접 입력, 환경 세팅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자연어 요청으로 자동 실행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논문 초안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백지부터 직접 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실험 결과 기반 골격 자동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18872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연구실 차원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A237E"/>
                </a:solidFill>
                <a:latin typeface="Noto Sans CJK KR"/>
              </a:rPr>
              <a:t>모델 자산화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개인 PC에 묻히지 않고 연구실 자산으로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A237E"/>
                </a:solidFill>
                <a:latin typeface="Noto Sans CJK KR"/>
              </a:rPr>
              <a:t>지식 전수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신규 연구자도 등록 모델 즉시 활용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A237E"/>
                </a:solidFill>
                <a:latin typeface="Noto Sans CJK KR"/>
              </a:rPr>
              <a:t>연구 가속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아이디어 → 초기 결과까지 시간 대폭 단축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A237E"/>
                </a:solidFill>
                <a:latin typeface="Noto Sans CJK KR"/>
              </a:rPr>
              <a:t>재현성 확보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모델 버전 관리로 결과 추적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v1.0 → v2.0 변경사항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389120"/>
          <a:ext cx="8686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v1.0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v2.0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상시운용 (24h 감시)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있음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제거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연구 업무 수행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보조 모드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핵심 모드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아카이빙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신규 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아이디어→실험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없음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신규 추가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논문 초안 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신규 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현재 한계: 툴체인 실행 레이어 부재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C62828"/>
                </a:solidFill>
                <a:latin typeface="Noto Sans CJK KR"/>
              </a:rPr>
              <a:t>현재 구조의 문제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있는 것 (설명서)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없는 것 (실행 레이어)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"data-fetcher는 JSOC에서 수집한다"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JSOC 다운로드를 실행하는 도구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"model-runner는 모델을 실행한다"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python3 run.py를 자동 체이닝하는 로직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"task-executor가 순차 실행한다"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Step1→Step2 출력을 자동 연결하는 파이프라인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28016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그래서 어떻게 되는가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AI가 매번 즉흥적으로 코드를 작성하거나 검색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같은 작업을 할 때마다 다른 방법으로 실행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연구실의 검증된 코드를 정확히 호출하지 못함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Step간 데이터 전달을 AI가 매번 추론해야 함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62828"/>
                </a:solidFill>
                <a:latin typeface="Noto Sans CJK KR"/>
              </a:rPr>
              <a:t>→ 재현성 없음, 오류 빈발, 신뢰도 낮음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11247120" cy="210312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283593"/>
                </a:solidFill>
                <a:latin typeface="Noto Sans CJK KR"/>
              </a:rPr>
              <a:t>참고: AssiWorks의 4계층 모델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6344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4709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283593"/>
                </a:solidFill>
                <a:latin typeface="Noto Sans CJK KR"/>
              </a:rPr>
              <a:t>Layer 1: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5029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실행 가능한 최소 단위
(API, 스크립트, LLM)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66344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4709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283593"/>
                </a:solidFill>
                <a:latin typeface="Noto Sans CJK KR"/>
              </a:rPr>
              <a:t>Layer 2: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5029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Tool들을 순차/조건/
병렬로 연결한 체인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4709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283593"/>
                </a:solidFill>
                <a:latin typeface="Noto Sans CJK KR"/>
              </a:rPr>
              <a:t>Layer 3: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029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자연어 이해 →
적절한 Tool/Flow 선택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466344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79" y="4709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283593"/>
                </a:solidFill>
                <a:latin typeface="Noto Sans CJK KR"/>
              </a:rPr>
              <a:t>Layer 4: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79" y="5029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여러 Agent가
협업하여 복합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074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83593"/>
                </a:solidFill>
                <a:latin typeface="Noto Sans CJK K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5074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83593"/>
                </a:solidFill>
                <a:latin typeface="Noto Sans CJK KR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5074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83593"/>
                </a:solidFill>
                <a:latin typeface="Noto Sans CJK KR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해결: 3계층 하네스 아키텍처 (Tool + Agent + Skill)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943600" cy="118872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3949AB"/>
                </a:solidFill>
                <a:latin typeface="Noto Sans CJK KR"/>
              </a:rPr>
              <a:t>Layer 3: Skills (오케스트레이터)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39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Noto Sans CJK KR"/>
              </a:rPr>
              <a:t>사용자 요청 → 어떤 Flow를 실행할지 판단
.claude/skills/*/skill.md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943600" cy="11887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7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E7D32"/>
                </a:solidFill>
                <a:latin typeface="Noto Sans CJK KR"/>
              </a:rPr>
              <a:t>Layer 2: Agents (지능형 판단)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Noto Sans CJK KR"/>
              </a:rPr>
              <a:t>Flow 실행 중 예외 처리, 대안 탐색, 사용자 소통
.claude/agents/*.md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5943600" cy="118872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F8F00"/>
                </a:solidFill>
                <a:latin typeface="Noto Sans CJK KR"/>
              </a:rPr>
              <a:t>Layer 1: Tools &amp; Flows (실행 레이어)  ← 신규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Noto Sans CJK KR"/>
              </a:rPr>
              <a:t>실제 코드를 래핑한 실행 단위 + 체이닝 정의
tools/*.yaml + flows/*.yaml + scripts/*.py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280160"/>
            <a:ext cx="50292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37160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F8F00"/>
                </a:solidFill>
                <a:latin typeface="Noto Sans CJK KR"/>
              </a:rPr>
              <a:t>Tool 정의 예시: fetch_aia.yaml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916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Noto Sans CJK KR"/>
              </a:rPr>
              <a:t>name: fetch_aia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type: python_script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script: scripts/fetch_aia.py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Noto Sans CJK KR"/>
              </a:rPr>
              <a:t>inputs: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  - wavelength: int (94~335)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  - time_start, time_end: string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  - output_dir: path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Noto Sans CJK KR"/>
              </a:rPr>
              <a:t>outputs: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  - fits_files: directory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  - manifest: json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dependencies: [drms, astropy]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840480"/>
            <a:ext cx="50292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93192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3949AB"/>
                </a:solidFill>
                <a:latin typeface="Noto Sans CJK KR"/>
              </a:rPr>
              <a:t>Flow 정의 예시: dem_pipeline.yaml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2519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Noto Sans CJK KR"/>
              </a:rPr>
              <a:t>name: dem_pipeline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Noto Sans CJK KR"/>
              </a:rPr>
              <a:t>steps: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  1. fetch_data → tool: fetch_aia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  2. preprocess → tool: preprocess_aia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8F00"/>
                </a:solidFill>
                <a:latin typeface="Noto Sans CJK KR"/>
              </a:rPr>
              <a:t>     input: {{steps.fetch_data.outputs.fits_files}}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  3. generate → tool: pix2pixcc_inference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  4. dem → tool: dem_inversion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  5. visualize → tool: dem_visualizer</a:t>
            </a:r>
          </a:p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3949AB"/>
                </a:solidFill>
                <a:latin typeface="Noto Sans CJK KR"/>
              </a:rPr>
              <a:t>→ Step간 데이터가 {{변수}}로 자동 연결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94960"/>
            <a:ext cx="5943600" cy="82296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4068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7E"/>
                </a:solidFill>
                <a:latin typeface="Noto Sans CJK KR"/>
              </a:rPr>
              <a:t>Tool+Flow가 있으면: 검증된 코드 즉시 호출 · Step 자동 연결 · 재현성 보장 · 연구실 코드 직접 래핑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확장 가능성 — 100가지 특화 하네스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6858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"/>
                <a:gridCol w="384048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카테고리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개수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예시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 데이터 처리 &amp; 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AIA 파이프라인, synoptic map, 코로나홀 추적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우주기상 예보 &amp; 모니터링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Kp/Dst 예보, 태양풍 예측, SEP 예보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딥러닝 모델 개발 &amp; 실험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Pix2PixCC 학습, 초해상도, XAI 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코로나/자기장 물리 연구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3D 복원, NLFFF, MHD, 코로나 진동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논문 &amp; 연구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논문 초안, 문헌 검토, 제안서 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관리 &amp; 인프라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레지스트리, 환경 복제, 재현성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시각화 &amp; 커뮤니케이션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 애니메이션, 3D 코로나, 인포그래픽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교육 &amp; 온보딩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신규 연구자 가이드, 튜토리얼 생성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위성 미션 &amp; 관측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관측 계획, conjunction 탐색, L4 미션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연구실 운영 &amp; 관리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지식 베이스, 회의록, 로드맵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2801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1A237E"/>
                </a:solidFill>
                <a:latin typeface="Noto Sans CJK KR"/>
              </a:rPr>
              <a:t>범용 vs 특화 하네스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현재 v2.0의 research-task는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범용 파이프라인으로 대부분을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처리할 수 있습니다.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37E"/>
                </a:solidFill>
                <a:latin typeface="Noto Sans CJK KR"/>
              </a:rPr>
              <a:t>특화 하네스를 만들면: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- 정확한 코드 호출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- 도메인 지식 내장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- 오류율 감소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8404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DFD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9319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A237E"/>
                </a:solidFill>
                <a:latin typeface="Noto Sans CJK KR"/>
              </a:rPr>
              <a:t>하지만 이것은 샘플입니다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실제로 의미있는 하네스를 만들려면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연구실의 기존 코드를 읽고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그 코드에 맞는 하네스를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A237E"/>
                </a:solidFill>
                <a:latin typeface="Noto Sans CJK KR"/>
              </a:rPr>
              <a:t>자동 생성해야 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코드 헤리티지 → Tool/Flow + 하네스 자동 생성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7830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1783080" cy="4114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KR"/>
              </a:rPr>
              <a:t>Phase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37360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3949AB"/>
                </a:solidFill>
                <a:latin typeface="Noto Sans CJK KR"/>
              </a:rPr>
              <a:t>코드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0312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연구실 어디에
뭐가 있는가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79" y="1280160"/>
            <a:ext cx="17830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40279" y="1280160"/>
            <a:ext cx="1783080" cy="4114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79" y="128016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KR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5999" y="1737360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3949AB"/>
                </a:solidFill>
                <a:latin typeface="Noto Sans CJK KR"/>
              </a:rPr>
              <a:t>코드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5999" y="210312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code-profiler가
Code Profile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280160"/>
            <a:ext cx="17830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0" y="1280160"/>
            <a:ext cx="1783080" cy="4114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28016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KR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1737360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3949AB"/>
                </a:solidFill>
                <a:latin typeface="Noto Sans CJK KR"/>
              </a:rPr>
              <a:t>하네스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10312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Code Profile →
Blueprint 그루핑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199" y="1280160"/>
            <a:ext cx="17830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199" y="1280160"/>
            <a:ext cx="1783080" cy="411480"/>
          </a:xfrm>
          <a:prstGeom prst="roundRect">
            <a:avLst>
              <a:gd name="adj" fmla="val 5000"/>
            </a:avLst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199" y="128016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KR"/>
              </a:rPr>
              <a:t>Phase 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19" y="1737360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8F00"/>
                </a:solidFill>
                <a:latin typeface="Noto Sans CJK KR"/>
              </a:rPr>
              <a:t>Tool/Flow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19" y="210312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실행 가능한 도구
+ 툴체인 YAML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280160"/>
            <a:ext cx="17830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1280160"/>
            <a:ext cx="1783080" cy="4114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28016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KR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1737360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3949AB"/>
                </a:solidFill>
                <a:latin typeface="Noto Sans CJK KR"/>
              </a:rPr>
              <a:t>에이전트 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10312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에이전트/스킬
.md 파일 생성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1280160"/>
            <a:ext cx="17830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04120" y="1280160"/>
            <a:ext cx="1783080" cy="4114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1280160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KR"/>
              </a:rPr>
              <a:t>Phase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1737360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3949AB"/>
                </a:solidFill>
                <a:latin typeface="Noto Sans CJK KR"/>
              </a:rPr>
              <a:t>검증/배포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10312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드라이런 +
사용자 피드백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3949AB"/>
                </a:solidFill>
                <a:latin typeface="Noto Sans CJK KR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3949AB"/>
                </a:solidFill>
                <a:latin typeface="Noto Sans CJK KR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3949AB"/>
                </a:solidFill>
                <a:latin typeface="Noto Sans CJK KR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19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3949AB"/>
                </a:solidFill>
                <a:latin typeface="Noto Sans CJK KR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3949AB"/>
                </a:solidFill>
                <a:latin typeface="Noto Sans CJK KR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3931920"/>
            <a:ext cx="5760720" cy="256032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12700">
            <a:solidFill>
              <a:srgbClr val="FFC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02336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FF8F00"/>
                </a:solidFill>
                <a:latin typeface="Noto Sans CJK KR"/>
              </a:rPr>
              <a:t>Phase 2.5: Tool/Flow 생성 (핵심 추가)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38912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33333"/>
                </a:solidFill>
                <a:latin typeface="Noto Sans CJK KR"/>
              </a:rPr>
              <a:t>Code Profile의 각 실행 step: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  → Tool YAML (입출력 스키마 + 래퍼 스크립트)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33333"/>
                </a:solidFill>
                <a:latin typeface="Noto Sans CJK KR"/>
              </a:rPr>
              <a:t>Code Profile의 전체 파이프라인: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  → Flow YAML (Tool 체이닝 + {{변수}} 자동 연결)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33333"/>
                </a:solidFill>
                <a:latin typeface="Noto Sans CJK KR"/>
              </a:rPr>
              <a:t>모델/가중치: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  → model_registry 등록 (model_card + tool.yaml)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FF8F00"/>
                </a:solidFill>
                <a:latin typeface="Noto Sans CJK KR"/>
              </a:rPr>
              <a:t>이 단계가 있어야 에이전트가 "설명"이 아닌 "실행"을 한다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393192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0233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harness-factory: 전체를 자동화하는 메타-하네스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3891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4개 에이전트가 Phase 0~4를 자동 수행: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code-profiler — 코드 자동 분석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harness-designer — 하네스 구조 설계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8F00"/>
                </a:solidFill>
                <a:latin typeface="Noto Sans CJK KR"/>
              </a:rPr>
              <a:t>tool-generator — Tool YAML + Flow YAML 생성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harness-validator — 드라이런 검증 + 배포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A237E"/>
                </a:solidFill>
                <a:latin typeface="Noto Sans CJK KR"/>
              </a:rPr>
              <a:t>"코드 경로만 알려주면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237E"/>
                </a:solidFill>
                <a:latin typeface="Noto Sans CJK KR"/>
              </a:rPr>
              <a:t> Tool + Flow + 에이전트가 자동으로 만들어집니다"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A237E"/>
                </a:solidFill>
                <a:latin typeface="Noto Sans CJK KR"/>
              </a:rPr>
              <a:t>납품 로드맵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64592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코드 수집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19456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949AB"/>
                </a:solidFill>
                <a:latin typeface="Noto Sans CJK KR"/>
              </a:rPr>
              <a:t>1~2일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Noto Sans CJK KR"/>
              </a:rPr>
              <a:t>연구자 인터뷰 + 서버 스캔
inventory.json 생성
비버전관리 코드 식별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28016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828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코드 분석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19456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194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949AB"/>
                </a:solidFill>
                <a:latin typeface="Noto Sans CJK KR"/>
              </a:rPr>
              <a:t>2~3일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26517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Noto Sans CJK KR"/>
              </a:rPr>
              <a:t>code-profiler로 Code Profile 생성
입출력/의존성/실행방법 자동 추출
코드당 10~30분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28016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1828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하네스 설계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79" y="219456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79" y="2194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949AB"/>
                </a:solidFill>
                <a:latin typeface="Noto Sans CJK KR"/>
              </a:rPr>
              <a:t>1일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6517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Noto Sans CJK KR"/>
              </a:rPr>
              <a:t>Code Profile → Blueprint 그루핑
에이전트/스킬 구조 설계
연구자 리뷰 + 피드백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59" y="128016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52359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59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799" y="1828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자동 생성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0999" y="219456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999" y="2194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949AB"/>
                </a:solidFill>
                <a:latin typeface="Noto Sans CJK KR"/>
              </a:rPr>
              <a:t>1일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19" y="26517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Noto Sans CJK KR"/>
              </a:rPr>
              <a:t>Blueprint → .md 파일 자동 생성
model_card.md + run.sh
코드당 5~10분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128016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84080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1828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검증/배포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19" y="219456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19" y="2194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949AB"/>
                </a:solidFill>
                <a:latin typeface="Noto Sans CJK KR"/>
              </a:rPr>
              <a:t>2~3일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26517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Noto Sans CJK KR"/>
              </a:rPr>
              <a:t>드라이런 (샘플 데이터)
사용자 검증 + 피드백 반영
최종 배포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029200"/>
            <a:ext cx="11247120" cy="73152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7E"/>
                </a:solidFill>
                <a:latin typeface="Noto Sans CJK KR"/>
              </a:rPr>
              <a:t>총 예상 기간: 1~2주 (코드 규모에 따라 변동)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Noto Sans CJK KR"/>
              </a:rPr>
              <a:t>현실: 연구실 코드의 80%는 README 없이 개인 PC에 존재 → Phase 1(코드 분석)이 핵심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Noto Sans CJK KR"/>
              </a:rPr>
              <a:t>우선순위:  1순위 활발히 사용 중  →  2순위 논문 공개 코드  →  3순위 공통 유틸리티  →  4순위 졸업생 코드 보존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Noto Sans CJK KR"/>
              </a:rPr>
              <a:t>기술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기반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Claude Code
(Anthropic AI)
에이전트 프레임워크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AI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7개 전문 에이전트
6개 스킬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59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NOAA, SDO, Solar Orbiter
STEREO, VSO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모델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파일 기반 레지스트리
model_card.md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Slack Webhook
Telegram Bot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840480"/>
            <a:ext cx="3047695" cy="36576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Noto Sans CJK KR"/>
              </a:rPr>
              <a:t>SSWL AI Harness v2.0</a:t>
            </a:r>
          </a:p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1A1A1A"/>
                </a:solidFill>
                <a:latin typeface="Noto Sans CJK KR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9FA8DA"/>
                </a:solidFill>
                <a:latin typeface="Noto Sans CJK KR"/>
              </a:rPr>
              <a:t>연구실에서 개발된 모델을 누구나 활용하고,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9FA8DA"/>
                </a:solidFill>
                <a:latin typeface="Noto Sans CJK KR"/>
              </a:rPr>
              <a:t>아이디어를 빠르게 검증합니다.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7986CB"/>
                </a:solidFill>
                <a:latin typeface="Noto Sans CJK KR"/>
              </a:rPr>
              <a:t>본 시스템은 연구자의 판단을 대체하지 않습니다. AI는 도구이며, 최종 의사결정은 항상 연구자에게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